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Completion time saved against tuned AIMD (%)</a:t>
            </a:r>
          </a:p>
        </c:rich>
      </c:tx>
      <c:layout/>
      <c:overlay val="0"/>
    </c:title>
    <c:autoTitleDeleted val="0"/>
    <c:plotArea>
      <c:layout/>
      <c:barChart>
        <c:barDir val="col"/>
        <c:grouping val="clustered"/>
        <c:varyColors val="0"/>
        <c:ser>
          <c:idx val="0"/>
          <c:order val="0"/>
          <c:tx>
            <c:strRef>
              <c:f>Sheet1!$B$1</c:f>
              <c:strCache>
                <c:ptCount val="1"/>
                <c:pt idx="0">
                  <c:v>Real clock, emulated paths</c:v>
                </c:pt>
              </c:strCache>
            </c:strRef>
          </c:tx>
          <c:spPr>
            <a:solidFill>
              <a:srgbClr val="2DD4BF"/>
            </a:solidFill>
            <a:effectLst/>
          </c:spPr>
          <c:invertIfNegative val="0"/>
          <c:dLbls>
            <c:numFmt formatCode="0&quot;%&quot;" sourceLinked="0"/>
            <c:txPr>
              <a:bodyPr/>
              <a:lstStyle/>
              <a:p>
                <a:pPr>
                  <a:defRPr b="0" i="0" strike="noStrike" sz="1300" u="none">
                    <a:solidFill>
                      <a:srgbClr val="EAF0F8"/>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Satellite-like</c:v>
                  </c:pt>
                </c:lvl>
              </c:multiLvlStrCache>
            </c:multiLvlStrRef>
          </c:cat>
          <c:val>
            <c:numRef>
              <c:f>Sheet1!$B$2:$B$4</c:f>
              <c:numCache>
                <c:formatCode>General</c:formatCode>
                <c:ptCount val="3"/>
                <c:pt idx="0">
                  <c:v>15</c:v>
                </c:pt>
                <c:pt idx="1">
                  <c:v>49</c:v>
                </c:pt>
                <c:pt idx="2">
                  <c:v>52</c:v>
                </c:pt>
              </c:numCache>
            </c:numRef>
          </c:val>
        </c:ser>
        <c:ser>
          <c:idx val="1"/>
          <c:order val="1"/>
          <c:tx>
            <c:strRef>
              <c:f>Sheet1!$C$1</c:f>
              <c:strCache>
                <c:ptCount val="1"/>
                <c:pt idx="0">
                  <c:v>Real Linux kernel (netem)</c:v>
                </c:pt>
              </c:strCache>
            </c:strRef>
          </c:tx>
          <c:spPr>
            <a:solidFill>
              <a:srgbClr val="FBBF24"/>
            </a:solidFill>
            <a:effectLst/>
          </c:spPr>
          <c:invertIfNegative val="0"/>
          <c:dLbls>
            <c:numFmt formatCode="0&quot;%&quot;" sourceLinked="0"/>
            <c:txPr>
              <a:bodyPr/>
              <a:lstStyle/>
              <a:p>
                <a:pPr>
                  <a:defRPr b="0" i="0" strike="noStrike" sz="1300" u="none">
                    <a:solidFill>
                      <a:srgbClr val="EAF0F8"/>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Satellite-like</c:v>
                  </c:pt>
                </c:lvl>
              </c:multiLvlStrCache>
            </c:multiLvlStrRef>
          </c:cat>
          <c:val>
            <c:numRef>
              <c:f>Sheet1!$C$2:$C$4</c:f>
              <c:numCache>
                <c:formatCode>General</c:formatCode>
                <c:ptCount val="3"/>
                <c:pt idx="0">
                  <c:v>65</c:v>
                </c:pt>
                <c:pt idx="1">
                  <c:v>71</c:v>
                </c:pt>
                <c:pt idx="2">
                  <c:v>83</c:v>
                </c:pt>
              </c:numCache>
            </c:numRef>
          </c:val>
        </c:ser>
        <c:dLbls>
          <c:numFmt formatCode="0&quot;%&quot;" sourceLinked="0"/>
          <c:txPr>
            <a:bodyPr/>
            <a:lstStyle/>
            <a:p>
              <a:pPr>
                <a:defRPr b="0" i="0" strike="noStrike" sz="13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Completion time (s), lower is better</a:t>
            </a:r>
          </a:p>
        </c:rich>
      </c:tx>
      <c:layout/>
      <c:overlay val="0"/>
    </c:title>
    <c:autoTitleDeleted val="0"/>
    <c:plotArea>
      <c:layout/>
      <c:barChart>
        <c:barDir val="col"/>
        <c:grouping val="clustered"/>
        <c:varyColors val="0"/>
        <c:ser>
          <c:idx val="0"/>
          <c:order val="0"/>
          <c:tx>
            <c:strRef>
              <c:f>Sheet1!$B$1</c:f>
              <c:strCache>
                <c:ptCount val="1"/>
                <c:pt idx="0">
                  <c:v>AIMD window 32</c:v>
                </c:pt>
              </c:strCache>
            </c:strRef>
          </c:tx>
          <c:spPr>
            <a:solidFill>
              <a:srgbClr val="64748B"/>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cat>
            <c:multiLvlStrRef>
              <c:f>Sheet1!$A$2:$A$6</c:f>
              <c:multiLvlStrCache>
                <c:ptCount val="5"/>
                <c:lvl>
                  <c:pt idx="0">
                    <c:v>5G-like</c:v>
                  </c:pt>
                  <c:pt idx="1">
                    <c:v>Lossy 2%</c:v>
                  </c:pt>
                  <c:pt idx="2">
                    <c:v>Satellite</c:v>
                  </c:pt>
                  <c:pt idx="3">
                    <c:v>Fast</c:v>
                  </c:pt>
                  <c:pt idx="4">
                    <c:v>Hostile 10% loss</c:v>
                  </c:pt>
                </c:lvl>
              </c:multiLvlStrCache>
            </c:multiLvlStrRef>
          </c:cat>
          <c:val>
            <c:numRef>
              <c:f>Sheet1!$B$2:$B$6</c:f>
              <c:numCache>
                <c:formatCode>General</c:formatCode>
                <c:ptCount val="5"/>
                <c:pt idx="0">
                  <c:v>1.41</c:v>
                </c:pt>
                <c:pt idx="1">
                  <c:v>7.98</c:v>
                </c:pt>
                <c:pt idx="2">
                  <c:v>17.93</c:v>
                </c:pt>
                <c:pt idx="3">
                  <c:v>14.55</c:v>
                </c:pt>
                <c:pt idx="4">
                  <c:v>7.54</c:v>
                </c:pt>
              </c:numCache>
            </c:numRef>
          </c:val>
        </c:ser>
        <c:ser>
          <c:idx val="1"/>
          <c:order val="1"/>
          <c:tx>
            <c:strRef>
              <c:f>Sheet1!$C$1</c:f>
              <c:strCache>
                <c:ptCount val="1"/>
                <c:pt idx="0">
                  <c:v>AIMD tuned</c:v>
                </c:pt>
              </c:strCache>
            </c:strRef>
          </c:tx>
          <c:spPr>
            <a:solidFill>
              <a:srgbClr val="94A3B8"/>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cat>
            <c:multiLvlStrRef>
              <c:f>Sheet1!$A$2:$A$6</c:f>
              <c:multiLvlStrCache>
                <c:ptCount val="5"/>
                <c:lvl>
                  <c:pt idx="0">
                    <c:v>5G-like</c:v>
                  </c:pt>
                  <c:pt idx="1">
                    <c:v>Lossy 2%</c:v>
                  </c:pt>
                  <c:pt idx="2">
                    <c:v>Satellite</c:v>
                  </c:pt>
                  <c:pt idx="3">
                    <c:v>Fast</c:v>
                  </c:pt>
                  <c:pt idx="4">
                    <c:v>Hostile 10% loss</c:v>
                  </c:pt>
                </c:lvl>
              </c:multiLvlStrCache>
            </c:multiLvlStrRef>
          </c:cat>
          <c:val>
            <c:numRef>
              <c:f>Sheet1!$C$2:$C$6</c:f>
              <c:numCache>
                <c:formatCode>General</c:formatCode>
                <c:ptCount val="5"/>
                <c:pt idx="0">
                  <c:v>1.09</c:v>
                </c:pt>
                <c:pt idx="1">
                  <c:v>7.05</c:v>
                </c:pt>
                <c:pt idx="2">
                  <c:v>11.36</c:v>
                </c:pt>
                <c:pt idx="3">
                  <c:v>8.2</c:v>
                </c:pt>
                <c:pt idx="4">
                  <c:v>8.34</c:v>
                </c:pt>
              </c:numCache>
            </c:numRef>
          </c:val>
        </c:ser>
        <c:ser>
          <c:idx val="2"/>
          <c:order val="2"/>
          <c:tx>
            <c:strRef>
              <c:f>Sheet1!$D$1</c:f>
              <c:strCache>
                <c:ptCount val="1"/>
                <c:pt idx="0">
                  <c:v>CUBIC tuned</c:v>
                </c:pt>
              </c:strCache>
            </c:strRef>
          </c:tx>
          <c:spPr>
            <a:solidFill>
              <a:srgbClr val="FBBF24"/>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cat>
            <c:multiLvlStrRef>
              <c:f>Sheet1!$A$2:$A$6</c:f>
              <c:multiLvlStrCache>
                <c:ptCount val="5"/>
                <c:lvl>
                  <c:pt idx="0">
                    <c:v>5G-like</c:v>
                  </c:pt>
                  <c:pt idx="1">
                    <c:v>Lossy 2%</c:v>
                  </c:pt>
                  <c:pt idx="2">
                    <c:v>Satellite</c:v>
                  </c:pt>
                  <c:pt idx="3">
                    <c:v>Fast</c:v>
                  </c:pt>
                  <c:pt idx="4">
                    <c:v>Hostile 10% loss</c:v>
                  </c:pt>
                </c:lvl>
              </c:multiLvlStrCache>
            </c:multiLvlStrRef>
          </c:cat>
          <c:val>
            <c:numRef>
              <c:f>Sheet1!$D$2:$D$6</c:f>
              <c:numCache>
                <c:formatCode>General</c:formatCode>
                <c:ptCount val="5"/>
                <c:pt idx="0">
                  <c:v>1.19</c:v>
                </c:pt>
                <c:pt idx="1">
                  <c:v>13.92</c:v>
                </c:pt>
                <c:pt idx="2">
                  <c:v>8.26</c:v>
                </c:pt>
                <c:pt idx="3">
                  <c:v>6.52</c:v>
                </c:pt>
                <c:pt idx="4">
                  <c:v>12.32</c:v>
                </c:pt>
              </c:numCache>
            </c:numRef>
          </c:val>
        </c:ser>
        <c:ser>
          <c:idx val="3"/>
          <c:order val="3"/>
          <c:tx>
            <c:strRef>
              <c:f>Sheet1!$E$1</c:f>
              <c:strCache>
                <c:ptCount val="1"/>
                <c:pt idx="0">
                  <c:v>Neural agent</c:v>
                </c:pt>
              </c:strCache>
            </c:strRef>
          </c:tx>
          <c:spPr>
            <a:solidFill>
              <a:srgbClr val="2DD4BF"/>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cat>
            <c:multiLvlStrRef>
              <c:f>Sheet1!$A$2:$A$6</c:f>
              <c:multiLvlStrCache>
                <c:ptCount val="5"/>
                <c:lvl>
                  <c:pt idx="0">
                    <c:v>5G-like</c:v>
                  </c:pt>
                  <c:pt idx="1">
                    <c:v>Lossy 2%</c:v>
                  </c:pt>
                  <c:pt idx="2">
                    <c:v>Satellite</c:v>
                  </c:pt>
                  <c:pt idx="3">
                    <c:v>Fast</c:v>
                  </c:pt>
                  <c:pt idx="4">
                    <c:v>Hostile 10% loss</c:v>
                  </c:pt>
                </c:lvl>
              </c:multiLvlStrCache>
            </c:multiLvlStrRef>
          </c:cat>
          <c:val>
            <c:numRef>
              <c:f>Sheet1!$E$2:$E$6</c:f>
              <c:numCache>
                <c:formatCode>General</c:formatCode>
                <c:ptCount val="5"/>
                <c:pt idx="0">
                  <c:v>0.92</c:v>
                </c:pt>
                <c:pt idx="1">
                  <c:v>3.62</c:v>
                </c:pt>
                <c:pt idx="2">
                  <c:v>5.46</c:v>
                </c:pt>
                <c:pt idx="3">
                  <c:v>3.92</c:v>
                </c:pt>
                <c:pt idx="4">
                  <c:v>8.93</c:v>
                </c:pt>
              </c:numCache>
            </c:numRef>
          </c:val>
        </c:ser>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Mean completion time (s), 500 packets of 512 bytes, lower is better</a:t>
            </a:r>
          </a:p>
        </c:rich>
      </c:tx>
      <c:layout/>
      <c:overlay val="0"/>
    </c:title>
    <c:autoTitleDeleted val="0"/>
    <c:plotArea>
      <c:layout/>
      <c:barChart>
        <c:barDir val="col"/>
        <c:grouping val="clustered"/>
        <c:varyColors val="0"/>
        <c:ser>
          <c:idx val="0"/>
          <c:order val="0"/>
          <c:tx>
            <c:strRef>
              <c:f>Sheet1!$B$1</c:f>
              <c:strCache>
                <c:ptCount val="1"/>
                <c:pt idx="0">
                  <c:v>Kernel TCP</c:v>
                </c:pt>
              </c:strCache>
            </c:strRef>
          </c:tx>
          <c:spPr>
            <a:solidFill>
              <a:srgbClr val="60A5FA"/>
            </a:solidFill>
            <a:effectLst/>
          </c:spPr>
          <c:invertIfNegative val="0"/>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Lossy 2%</c:v>
                  </c:pt>
                  <c:pt idx="1">
                    <c:v>5G-like</c:v>
                  </c:pt>
                  <c:pt idx="2">
                    <c:v>Satellite</c:v>
                  </c:pt>
                  <c:pt idx="3">
                    <c:v>Reordering</c:v>
                  </c:pt>
                </c:lvl>
              </c:multiLvlStrCache>
            </c:multiLvlStrRef>
          </c:cat>
          <c:val>
            <c:numRef>
              <c:f>Sheet1!$B$2:$B$5</c:f>
              <c:numCache>
                <c:formatCode>General</c:formatCode>
                <c:ptCount val="4"/>
                <c:pt idx="0">
                  <c:v>0.88</c:v>
                </c:pt>
                <c:pt idx="1">
                  <c:v>0.28</c:v>
                </c:pt>
                <c:pt idx="2">
                  <c:v>1.91</c:v>
                </c:pt>
                <c:pt idx="3">
                  <c:v>0.94</c:v>
                </c:pt>
              </c:numCache>
            </c:numRef>
          </c:val>
        </c:ser>
        <c:ser>
          <c:idx val="1"/>
          <c:order val="1"/>
          <c:tx>
            <c:strRef>
              <c:f>Sheet1!$C$1</c:f>
              <c:strCache>
                <c:ptCount val="1"/>
                <c:pt idx="0">
                  <c:v>Poise AIMD tuned</c:v>
                </c:pt>
              </c:strCache>
            </c:strRef>
          </c:tx>
          <c:spPr>
            <a:solidFill>
              <a:srgbClr val="94A3B8"/>
            </a:solidFill>
            <a:effectLst/>
          </c:spPr>
          <c:invertIfNegative val="0"/>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Lossy 2%</c:v>
                  </c:pt>
                  <c:pt idx="1">
                    <c:v>5G-like</c:v>
                  </c:pt>
                  <c:pt idx="2">
                    <c:v>Satellite</c:v>
                  </c:pt>
                  <c:pt idx="3">
                    <c:v>Reordering</c:v>
                  </c:pt>
                </c:lvl>
              </c:multiLvlStrCache>
            </c:multiLvlStrRef>
          </c:cat>
          <c:val>
            <c:numRef>
              <c:f>Sheet1!$C$2:$C$5</c:f>
              <c:numCache>
                <c:formatCode>General</c:formatCode>
                <c:ptCount val="4"/>
                <c:pt idx="0">
                  <c:v>4.75</c:v>
                </c:pt>
                <c:pt idx="1">
                  <c:v>1.23</c:v>
                </c:pt>
                <c:pt idx="2">
                  <c:v>16.72</c:v>
                </c:pt>
                <c:pt idx="3">
                  <c:v>4.06</c:v>
                </c:pt>
              </c:numCache>
            </c:numRef>
          </c:val>
        </c:ser>
        <c:ser>
          <c:idx val="2"/>
          <c:order val="2"/>
          <c:tx>
            <c:strRef>
              <c:f>Sheet1!$D$1</c:f>
              <c:strCache>
                <c:ptCount val="1"/>
                <c:pt idx="0">
                  <c:v>Poise neural agent</c:v>
                </c:pt>
              </c:strCache>
            </c:strRef>
          </c:tx>
          <c:spPr>
            <a:solidFill>
              <a:srgbClr val="2DD4BF"/>
            </a:solidFill>
            <a:effectLst/>
          </c:spPr>
          <c:invertIfNegative val="0"/>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Lossy 2%</c:v>
                  </c:pt>
                  <c:pt idx="1">
                    <c:v>5G-like</c:v>
                  </c:pt>
                  <c:pt idx="2">
                    <c:v>Satellite</c:v>
                  </c:pt>
                  <c:pt idx="3">
                    <c:v>Reordering</c:v>
                  </c:pt>
                </c:lvl>
              </c:multiLvlStrCache>
            </c:multiLvlStrRef>
          </c:cat>
          <c:val>
            <c:numRef>
              <c:f>Sheet1!$D$2:$D$5</c:f>
              <c:numCache>
                <c:formatCode>General</c:formatCode>
                <c:ptCount val="4"/>
                <c:pt idx="0">
                  <c:v>1.35</c:v>
                </c:pt>
                <c:pt idx="1">
                  <c:v>0.43</c:v>
                </c:pt>
                <c:pt idx="2">
                  <c:v>2.92</c:v>
                </c:pt>
                <c:pt idx="3">
                  <c:v>1.64</c:v>
                </c:pt>
              </c:numCache>
            </c:numRef>
          </c:val>
        </c:ser>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Mean completion time (s), virtual time, 20 paired seeds</a:t>
            </a:r>
          </a:p>
        </c:rich>
      </c:tx>
      <c:layout/>
      <c:overlay val="0"/>
    </c:title>
    <c:autoTitleDeleted val="0"/>
    <c:plotArea>
      <c:layout/>
      <c:barChart>
        <c:barDir val="col"/>
        <c:grouping val="clustered"/>
        <c:varyColors val="0"/>
        <c:ser>
          <c:idx val="0"/>
          <c:order val="0"/>
          <c:tx>
            <c:strRef>
              <c:f>Sheet1!$B$1</c:f>
              <c:strCache>
                <c:ptCount val="1"/>
                <c:pt idx="0">
                  <c:v>AIMD tuned</c:v>
                </c:pt>
              </c:strCache>
            </c:strRef>
          </c:tx>
          <c:spPr>
            <a:solidFill>
              <a:srgbClr val="94A3B8"/>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Bandwidth drop</c:v>
                  </c:pt>
                  <c:pt idx="1">
                    <c:v>Bandwidth rise</c:v>
                  </c:pt>
                  <c:pt idx="2">
                    <c:v>Delay jump</c:v>
                  </c:pt>
                  <c:pt idx="3">
                    <c:v>Hand-over pattern</c:v>
                  </c:pt>
                </c:lvl>
              </c:multiLvlStrCache>
            </c:multiLvlStrRef>
          </c:cat>
          <c:val>
            <c:numRef>
              <c:f>Sheet1!$B$2:$B$5</c:f>
              <c:numCache>
                <c:formatCode>General</c:formatCode>
                <c:ptCount val="4"/>
                <c:pt idx="0">
                  <c:v>13.6</c:v>
                </c:pt>
                <c:pt idx="1">
                  <c:v>9.2</c:v>
                </c:pt>
                <c:pt idx="2">
                  <c:v>33.3</c:v>
                </c:pt>
                <c:pt idx="3">
                  <c:v>12.8</c:v>
                </c:pt>
              </c:numCache>
            </c:numRef>
          </c:val>
        </c:ser>
        <c:ser>
          <c:idx val="1"/>
          <c:order val="1"/>
          <c:tx>
            <c:strRef>
              <c:f>Sheet1!$C$1</c:f>
              <c:strCache>
                <c:ptCount val="1"/>
                <c:pt idx="0">
                  <c:v>CUBIC</c:v>
                </c:pt>
              </c:strCache>
            </c:strRef>
          </c:tx>
          <c:spPr>
            <a:solidFill>
              <a:srgbClr val="64748B"/>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Bandwidth drop</c:v>
                  </c:pt>
                  <c:pt idx="1">
                    <c:v>Bandwidth rise</c:v>
                  </c:pt>
                  <c:pt idx="2">
                    <c:v>Delay jump</c:v>
                  </c:pt>
                  <c:pt idx="3">
                    <c:v>Hand-over pattern</c:v>
                  </c:pt>
                </c:lvl>
              </c:multiLvlStrCache>
            </c:multiLvlStrRef>
          </c:cat>
          <c:val>
            <c:numRef>
              <c:f>Sheet1!$C$2:$C$5</c:f>
              <c:numCache>
                <c:formatCode>General</c:formatCode>
                <c:ptCount val="4"/>
                <c:pt idx="0">
                  <c:v>17.7</c:v>
                </c:pt>
                <c:pt idx="1">
                  <c:v>15.1</c:v>
                </c:pt>
                <c:pt idx="2">
                  <c:v>27.5</c:v>
                </c:pt>
                <c:pt idx="3">
                  <c:v>21.4</c:v>
                </c:pt>
              </c:numCache>
            </c:numRef>
          </c:val>
        </c:ser>
        <c:ser>
          <c:idx val="2"/>
          <c:order val="2"/>
          <c:tx>
            <c:strRef>
              <c:f>Sheet1!$D$1</c:f>
              <c:strCache>
                <c:ptCount val="1"/>
                <c:pt idx="0">
                  <c:v>BBR-style</c:v>
                </c:pt>
              </c:strCache>
            </c:strRef>
          </c:tx>
          <c:spPr>
            <a:solidFill>
              <a:srgbClr val="FBBF24"/>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Bandwidth drop</c:v>
                  </c:pt>
                  <c:pt idx="1">
                    <c:v>Bandwidth rise</c:v>
                  </c:pt>
                  <c:pt idx="2">
                    <c:v>Delay jump</c:v>
                  </c:pt>
                  <c:pt idx="3">
                    <c:v>Hand-over pattern</c:v>
                  </c:pt>
                </c:lvl>
              </c:multiLvlStrCache>
            </c:multiLvlStrRef>
          </c:cat>
          <c:val>
            <c:numRef>
              <c:f>Sheet1!$D$2:$D$5</c:f>
              <c:numCache>
                <c:formatCode>General</c:formatCode>
                <c:ptCount val="4"/>
                <c:pt idx="0">
                  <c:v>13.4</c:v>
                </c:pt>
                <c:pt idx="1">
                  <c:v>5</c:v>
                </c:pt>
                <c:pt idx="2">
                  <c:v>25.9</c:v>
                </c:pt>
                <c:pt idx="3">
                  <c:v>10.8</c:v>
                </c:pt>
              </c:numCache>
            </c:numRef>
          </c:val>
        </c:ser>
        <c:ser>
          <c:idx val="3"/>
          <c:order val="3"/>
          <c:tx>
            <c:strRef>
              <c:f>Sheet1!$E$1</c:f>
              <c:strCache>
                <c:ptCount val="1"/>
                <c:pt idx="0">
                  <c:v>Neural agent</c:v>
                </c:pt>
              </c:strCache>
            </c:strRef>
          </c:tx>
          <c:spPr>
            <a:solidFill>
              <a:srgbClr val="2DD4BF"/>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Bandwidth drop</c:v>
                  </c:pt>
                  <c:pt idx="1">
                    <c:v>Bandwidth rise</c:v>
                  </c:pt>
                  <c:pt idx="2">
                    <c:v>Delay jump</c:v>
                  </c:pt>
                  <c:pt idx="3">
                    <c:v>Hand-over pattern</c:v>
                  </c:pt>
                </c:lvl>
              </c:multiLvlStrCache>
            </c:multiLvlStrRef>
          </c:cat>
          <c:val>
            <c:numRef>
              <c:f>Sheet1!$E$2:$E$5</c:f>
              <c:numCache>
                <c:formatCode>General</c:formatCode>
                <c:ptCount val="4"/>
                <c:pt idx="0">
                  <c:v>12.7</c:v>
                </c:pt>
                <c:pt idx="1">
                  <c:v>4.3</c:v>
                </c:pt>
                <c:pt idx="2">
                  <c:v>19.8</c:v>
                </c:pt>
                <c:pt idx="3">
                  <c:v>8.2</c:v>
                </c:pt>
              </c:numCache>
            </c:numRef>
          </c:val>
        </c:ser>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Share of the link next to a kernel TCP flow (%)</a:t>
            </a:r>
          </a:p>
        </c:rich>
      </c:tx>
      <c:layout/>
      <c:overlay val="0"/>
    </c:title>
    <c:autoTitleDeleted val="0"/>
    <c:plotArea>
      <c:layout/>
      <c:barChart>
        <c:barDir val="col"/>
        <c:grouping val="clustered"/>
        <c:varyColors val="0"/>
        <c:ser>
          <c:idx val="0"/>
          <c:order val="0"/>
          <c:tx>
            <c:strRef>
              <c:f>Sheet1!$B$1</c:f>
              <c:strCache>
                <c:ptCount val="1"/>
                <c:pt idx="0">
                  <c:v>Neural agent</c:v>
                </c:pt>
              </c:strCache>
            </c:strRef>
          </c:tx>
          <c:spPr>
            <a:solidFill>
              <a:srgbClr val="2DD4BF"/>
            </a:solidFill>
            <a:effectLst/>
          </c:spPr>
          <c:invertIfNegative val="0"/>
          <c:dLbls>
            <c:numFmt formatCode="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c:v>
                  </c:pt>
                </c:lvl>
              </c:multiLvlStrCache>
            </c:multiLvlStrRef>
          </c:cat>
          <c:val>
            <c:numRef>
              <c:f>Sheet1!$B$2:$B$4</c:f>
              <c:numCache>
                <c:formatCode>General</c:formatCode>
                <c:ptCount val="3"/>
                <c:pt idx="0">
                  <c:v>24</c:v>
                </c:pt>
                <c:pt idx="1">
                  <c:v>30</c:v>
                </c:pt>
                <c:pt idx="2">
                  <c:v>34</c:v>
                </c:pt>
              </c:numCache>
            </c:numRef>
          </c:val>
        </c:ser>
        <c:ser>
          <c:idx val="1"/>
          <c:order val="1"/>
          <c:tx>
            <c:strRef>
              <c:f>Sheet1!$C$1</c:f>
              <c:strCache>
                <c:ptCount val="1"/>
                <c:pt idx="0">
                  <c:v>Tuned AIMD</c:v>
                </c:pt>
              </c:strCache>
            </c:strRef>
          </c:tx>
          <c:spPr>
            <a:solidFill>
              <a:srgbClr val="94A3B8"/>
            </a:solidFill>
            <a:effectLst/>
          </c:spPr>
          <c:invertIfNegative val="0"/>
          <c:dLbls>
            <c:numFmt formatCode="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c:v>
                  </c:pt>
                </c:lvl>
              </c:multiLvlStrCache>
            </c:multiLvlStrRef>
          </c:cat>
          <c:val>
            <c:numRef>
              <c:f>Sheet1!$C$2:$C$4</c:f>
              <c:numCache>
                <c:formatCode>General</c:formatCode>
                <c:ptCount val="3"/>
                <c:pt idx="0">
                  <c:v>8</c:v>
                </c:pt>
                <c:pt idx="1">
                  <c:v>16</c:v>
                </c:pt>
                <c:pt idx="2">
                  <c:v>5</c:v>
                </c:pt>
              </c:numCache>
            </c:numRef>
          </c:val>
        </c:ser>
        <c:dLbls>
          <c:numFmt formatCode="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First clean repetition, completion time (s)</a:t>
            </a:r>
          </a:p>
        </c:rich>
      </c:tx>
      <c:layout/>
      <c:overlay val="0"/>
    </c:title>
    <c:autoTitleDeleted val="0"/>
    <c:plotArea>
      <c:layout/>
      <c:barChart>
        <c:barDir val="col"/>
        <c:grouping val="clustered"/>
        <c:varyColors val="0"/>
        <c:ser>
          <c:idx val="0"/>
          <c:order val="0"/>
          <c:tx>
            <c:strRef>
              <c:f>Sheet1!$B$1</c:f>
              <c:strCache>
                <c:ptCount val="1"/>
                <c:pt idx="0">
                  <c:v>Rep 1, 2 MB</c:v>
                </c:pt>
              </c:strCache>
            </c:strRef>
          </c:tx>
          <c:spPr>
            <a:solidFill>
              <a:srgbClr val="2DD4BF"/>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Sheet1!$A$2:$A$6</c:f>
              <c:multiLvlStrCache>
                <c:ptCount val="5"/>
                <c:lvl>
                  <c:pt idx="0">
                    <c:v>Kernel TCP</c:v>
                  </c:pt>
                  <c:pt idx="1">
                    <c:v>AIMD</c:v>
                  </c:pt>
                  <c:pt idx="2">
                    <c:v>CUBIC</c:v>
                  </c:pt>
                  <c:pt idx="3">
                    <c:v>BBR-style</c:v>
                  </c:pt>
                  <c:pt idx="4">
                    <c:v>Neural agent</c:v>
                  </c:pt>
                </c:lvl>
              </c:multiLvlStrCache>
            </c:multiLvlStrRef>
          </c:cat>
          <c:val>
            <c:numRef>
              <c:f>Sheet1!$B$2:$B$6</c:f>
              <c:numCache>
                <c:formatCode>General</c:formatCode>
                <c:ptCount val="5"/>
                <c:pt idx="0">
                  <c:v>2.47</c:v>
                </c:pt>
                <c:pt idx="1">
                  <c:v>14.23</c:v>
                </c:pt>
                <c:pt idx="2">
                  <c:v>12.44</c:v>
                </c:pt>
                <c:pt idx="3">
                  <c:v>6.35</c:v>
                </c:pt>
                <c:pt idx="4">
                  <c:v>4.7</c:v>
                </c:pt>
              </c:numCache>
            </c:numRef>
          </c:val>
        </c:ser>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Ablation, 100 random held-out paths (lower is faster)</a:t>
            </a:r>
          </a:p>
        </c:rich>
      </c:tx>
      <c:layout/>
      <c:overlay val="0"/>
    </c:title>
    <c:autoTitleDeleted val="0"/>
    <c:plotArea>
      <c:layout/>
      <c:barChart>
        <c:barDir val="bar"/>
        <c:grouping val="clustered"/>
        <c:varyColors val="0"/>
        <c:ser>
          <c:idx val="0"/>
          <c:order val="0"/>
          <c:tx>
            <c:strRef>
              <c:f>Sheet1!$B$1</c:f>
              <c:strCache>
                <c:ptCount val="1"/>
                <c:pt idx="0">
                  <c:v>Time relative to tuned AIMD</c:v>
                </c:pt>
              </c:strCache>
            </c:strRef>
          </c:tx>
          <c:spPr>
            <a:solidFill>
              <a:srgbClr val="2DD4BF"/>
            </a:solidFill>
            <a:effectLst/>
          </c:spPr>
          <c:invertIfNegative val="0"/>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Sheet1!$A$2:$A$9</c:f>
              <c:multiLvlStrCache>
                <c:ptCount val="8"/>
                <c:lvl>
                  <c:pt idx="0">
                    <c:v>Tuned AIMD</c:v>
                  </c:pt>
                  <c:pt idx="1">
                    <c:v>Neural, final</c:v>
                  </c:pt>
                  <c:pt idx="2">
                    <c:v>no slow start</c:v>
                  </c:pt>
                  <c:pt idx="3">
                    <c:v>no pacing</c:v>
                  </c:pt>
                  <c:pt idx="4">
                    <c:v>no hand-over</c:v>
                  </c:pt>
                  <c:pt idx="5">
                    <c:v>cap 32</c:v>
                  </c:pt>
                  <c:pt idx="6">
                    <c:v>no timer floor</c:v>
                  </c:pt>
                  <c:pt idx="7">
                    <c:v>original settings</c:v>
                  </c:pt>
                </c:lvl>
              </c:multiLvlStrCache>
            </c:multiLvlStrRef>
          </c:cat>
          <c:val>
            <c:numRef>
              <c:f>Sheet1!$B$2:$B$9</c:f>
              <c:numCache>
                <c:formatCode>General</c:formatCode>
                <c:ptCount val="8"/>
                <c:pt idx="0">
                  <c:v>1</c:v>
                </c:pt>
                <c:pt idx="1">
                  <c:v>0.51</c:v>
                </c:pt>
                <c:pt idx="2">
                  <c:v>0.527</c:v>
                </c:pt>
                <c:pt idx="3">
                  <c:v>0.549</c:v>
                </c:pt>
                <c:pt idx="4">
                  <c:v>0.506</c:v>
                </c:pt>
                <c:pt idx="5">
                  <c:v>0.837</c:v>
                </c:pt>
                <c:pt idx="6">
                  <c:v>0.519</c:v>
                </c:pt>
                <c:pt idx="7">
                  <c:v>0.859</c:v>
                </c:pt>
              </c:numCache>
            </c:numRef>
          </c:val>
        </c:ser>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24324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We built Poise, a reliable protocol on UDP in C, and taught a neural network to control its congestion window.</a:t>
            </a:r>
          </a:p>
          <a:p/>
          <a:p>
            <a:r>
              <a:t>If asked: Who did what? Harsh: transport and agent; Rohit and Shloak: network design and tools.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UDP is fast but unreliable. TCP is reliable but sits in the kernel. Our question: can we rebuild TCP's core ideas ourselves, in a form we can read, tune and teach a network to control?</a:t>
            </a:r>
          </a:p>
          <a:p/>
          <a:p>
            <a:r>
              <a:t>If asked: Is this like QUIC? Same idea: reliability in user space over UDP.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Four parts: the protocol, the learned controller, the Packet Tracer network, and the tools (chat, Drop, Wireshark dissector).</a:t>
            </a:r>
          </a:p>
          <a:p/>
          <a:p>
            <a:r>
              <a:t>If asked: How big is the core? About 470 lines of 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Lead with the numbers: 15 to 52% less time on emulated paths, 65 to 83% on the real Linux kernel, 0.53x on 100 random unseen paths. Fastest in all four changing-path cases. Fairer than AIMD, and it takes 24 to 34% next to kernel TCP.</a:t>
            </a:r>
          </a:p>
          <a:p/>
          <a:p>
            <a:r>
              <a:t>If asked: Against what? Tuned AIMD and tuned CUBIC, not weak baselines.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Same trained network on every path, no retuning. Left bars real clock, right bars real kernel.</a:t>
            </a:r>
          </a:p>
          <a:p/>
          <a:p>
            <a:r>
              <a:t>If asked: Why is the kernel gain bigger? Tuned AIMD does badly with netem's real queues.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One table of every alternative: AIMD, CUBIC, BBR-style, Q-table, plain UDP and kernel TCP. Honest row: kernel TCP is 1.5 to 1.7x faster than the agent. FTP and SCP run on TCP so that row stands for them.</a:t>
            </a:r>
          </a:p>
          <a:p/>
          <a:p>
            <a:r>
              <a:t>If asked: Did you run FTP? No; it runs on kernel TCP, so the TCP row is the comparison.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Fastest on four of five paths. Lossy 3.6 s against 7.1 s tuned AIMD and 13.9 s CUBIC. At 10% loss no policy is significantly different.</a:t>
            </a:r>
          </a:p>
          <a:p/>
          <a:p>
            <a:r>
              <a:t>If asked: How many runs? 10 paired runs per path, 95% intervals.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Same path, same seed. AIMD saws between 5 and 15 packets and needs 9 s; the agent holds a much bigger window, backs off on loss, finishes in 4 s.</a:t>
            </a:r>
          </a:p>
          <a:p/>
          <a:p>
            <a:r>
              <a:t>If asked: Why not just a bigger AIMD cap? We tuned it to 128; the agent still wins.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Real Linux queues with netem, 500 real 512 byte packets. Agent beats tuned AIMD by 65 to 83%. Kernel TCP is still faster, as expected.</a:t>
            </a:r>
          </a:p>
          <a:p/>
          <a:p>
            <a:r>
              <a:t>If asked: Why is TCP faster? In-kernel, years of tuning, no user-space overhead.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Bandwidth drop, rise, delay jump, hand-over: the agent is fastest in all four. BBR-style is a strong opponent here and beats AIMD on most.</a:t>
            </a:r>
          </a:p>
          <a:p/>
          <a:p>
            <a:r>
              <a:t>If asked: Is it real BBR? A simplified version in virtual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Next to a kernel TCP flow the agent takes 24 to 34% and TCP keeps the rest. Jain fairness 0.84 against 0.64 for AIMD with unequal RTTs.</a:t>
            </a:r>
          </a:p>
          <a:p/>
          <a:p>
            <a:r>
              <a:t>If asked: Is it polite? More pushy than AIMD; we have an optional polite mode.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Two laptops on different networks over Tailscale, 79 ms RTT. Every completed transfer delivered all 4000 packets; in rep 1 the agent took 4.7 s. The relay drifted, so no ranking from later reps.</a:t>
            </a:r>
          </a:p>
          <a:p/>
          <a:p>
            <a:r>
              <a:t>If asked: Why only one clean rep? The relayed path drifted; 4 of 20 runs timed 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Drop in a file, pick a network, race three policies. Example: 13.0 s neural against 26.7 s AIMD, byte-identical by SHA-256.</a:t>
            </a:r>
          </a:p>
          <a:p/>
          <a:p>
            <a:r>
              <a:t>If asked: Real stack? Yes: C sender, server and impairment proxy.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Chat over Poise between two machines. Live counters show ACKs and retransmissions; the loss slider shows recovery.</a:t>
            </a:r>
          </a:p>
          <a:p/>
          <a:p>
            <a:r>
              <a:t>If asked: Does it run on the internet? Yes, linked over Tailscale.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Four routers, OSPF area 0, two VLANs, DHCP, an ACL, and failover: shutting R1 Gi0/2 reroutes through R2, 70 of 71 pings succeed.</a:t>
            </a:r>
          </a:p>
          <a:p/>
          <a:p>
            <a:r>
              <a:t>If asked: Why separate from the code? Packet Tracer cannot run C programs.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Our Lua dissector decodes seq, ack, flags and CRC. Left, the handshake; right, filtering one sequence number shows retransmissions.</a:t>
            </a:r>
          </a:p>
          <a:p/>
          <a:p>
            <a:r>
              <a:t>If asked: Is it a real capture? Yes, from the running protocol on loopback.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13-byte header, three-way handshake, CRC-16 on every packet; corrupt packets are dropped and recovered.</a:t>
            </a:r>
          </a:p>
          <a:p/>
          <a:p>
            <a:r>
              <a:t>If asked: Why CRC-16? A byte-sum accepted corrupt packets; CRC-16 accepted 0 of 333k.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Receiver buffers out of order, 32-byte ACK bitmap, one timer per packet, adaptive timeout. About 10x fewer retransmissions than Go-Back-N.</a:t>
            </a:r>
          </a:p>
          <a:p/>
          <a:p>
            <a:r>
              <a:t>If asked: Is the gain significant? All rows yes except hostile 10% loss.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Five controllers behind one interface. The neural net is 5-32-32-5 with 1413 weights and five actions from 0.5x to 1.5x. AIMD takes over when an interval loses 10% or more.</a:t>
            </a:r>
          </a:p>
          <a:p/>
          <a:p>
            <a:r>
              <a:t>If asked: Why hand-over? Without it the agent was 7x slower at 10% loss.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On 100 random held-out paths the agent takes 0.53x the time. Cap 128 and original settings matter most.</a:t>
            </a:r>
          </a:p>
          <a:p/>
          <a:p>
            <a:r>
              <a:t>If asked: Did retraining help? Evolution strategy added only 2%, not adopted.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Correctness first, then four steps toward the real world: emulation, impairment proxy, kernel netem, two machines.</a:t>
            </a:r>
          </a:p>
          <a:p/>
          <a:p>
            <a:r>
              <a:t>If asked: Where are commands? docs/RUNNING_ALL_TESTS.md.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What went wrong: the Q-table was not faster, 7x slower at 10% loss, socket bugs, weak early baselines, and four mistakes in our own kernel tests.</a:t>
            </a:r>
          </a:p>
          <a:p/>
          <a:p>
            <a:r>
              <a:t>If asked: Were results hidden? No; all are in the report.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Each issue led to a fix: Selective Repeat, CRC-16, tuned baselines, neural net with hand-over, corrected kernel tests.</a:t>
            </a:r>
          </a:p>
          <a:p/>
          <a:p>
            <a:r>
              <a:t>If asked: Biggest fix? Hand-over to AIMD: 84.9 s down to 13.9 s at 10% loss.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Kernel TCP is faster; the agent is pushier than AIMD; no formal verification; trained in a simulator; two-machine run is one relayed path.</a:t>
            </a:r>
          </a:p>
          <a:p/>
          <a:p>
            <a:r>
              <a:t>If asked: Future work? Real traces, formal certification, a direct-LAN multi-machine run.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learned protocol design, honest evaluation, and that tuned baselines matter. Next: real traces and certification.</a:t>
            </a:r>
          </a:p>
          <a:p/>
          <a:p>
            <a:r>
              <a:t>If asked: What would you do first? A bigger real-network study.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Thank you. Code and results are at github.com/Capsturrrr/poise.</a:t>
            </a:r>
          </a:p>
          <a:p/>
          <a:p>
            <a:r>
              <a:t>If asked: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We then put the neural agent into the C transport, the same code as Section 8, and tested it on the same three emulated paths with 15 runs each. AIMD and the agents all start from a window of 10. The neural agent was faster than AIMD on all three: 15 percent on 5G-like, 27 percent on lossy, 24 percent on satellite-like. The intervals exclude zero. The retrained table did not carry over: it was slower on 5G and satellite. A network generalises to unseen paths where a table does not. We also added selective acknowledgments to the C code: about ten times fewer retransmissions, but no significant change in completion time on these emulated paths. We also reran it with AIMD capped at 32 like the agent: the neural agent still wins by 19, 29 and 28 percent, all significant.</a:t>
            </a:r>
          </a:p>
          <a:p/>
          <a:p>
            <a:r>
              <a:t>If asked: Q: So Smart-Poise now beats AIMD? A: The neural version does, in the C transport on emulated paths, trained in a simulator; the original table agent in Section 8 did not. Q: Is it fair? A: Same start window; AIMD keeps a cap of 128 while the agents are capped at 32; the agent retransmits more on random loss. Q: Why no gain from SACK? A: Those paths are limited by the bottleneck rate, so extra retransmissions cost little; the simulator, with different paths, showed a large gain.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While checking our own result we found where the neural agent fails: on a hostile path with 10 percent loss it needed about 85 seconds where AIMD needed 11. The fix is a hand-over: when a decision interval loses 10 percent or more of its packets, plain AIMD controls the window; after three clean intervals the agent takes over again. With that, the three benign paths keep the agent's advantage and the hostile path is back near AIMD at about 14 seconds. We also tried cutting the window on every timeout; it fixed the hostile case but made the 2 percent path much worse, so we dropped it. So the learned agent is useful on clean to moderate paths and needs a classical safety net elsewhere.</a:t>
            </a:r>
          </a:p>
          <a:p/>
          <a:p>
            <a:r>
              <a:t>If asked: Is the hybrid still 'AI'? Yes on clean and moderate paths, where the neural network decides; on heavy loss it deliberately defers to AIMD. It is a rule we added, not something the network learned.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The abstract also promised TCP and plain UDP baselines, so we ran them on the same 48 unseen simulated paths. Plain UDP delivered only 68 percent of the messages, so reliability is needed. Our TCP model, with selective acknowledgments, has the lowest median at 1.48 seconds. Smart-Poise deep is at 3.20 seconds mean and is about even with the TCP model path by path: faster on 22, slower on 23. The gap to TCP is mostly Go-Back-N. A selective-ack version of our transport cut AIMD from 7.16 to 4.90 seconds in simulation. Reordering hurts Go-Back-N badly: AIMD goes from 0.82 to 6.79 seconds at 20 milliseconds of jitter. The learned agents cope better and selective ack removes most of the damage. For the C experiments we repeated 20 runs per mode: Smart-Poise is still slower on 5G and satellite and ties on lossy. Be upfront: our simulator originally allowed a duplicate-ACK retransmission storm that flatters aggressive controllers. With the realistic rule the neural agent is about level with AIMD in simulation (7.27 s against 7.75 s). The C results are the evidence we rely on.</a:t>
            </a:r>
          </a:p>
          <a:p/>
          <a:p>
            <a:r>
              <a:t>If asked: Q: Is the TCP row real TCP? A: No, it is a model with the same window cap; real kernel TCP needs netem on Linux, and we provide the script. Q: Why did you not implement SACK in C? A: Time; the simulation shows it is the biggest win and it is the first item of future work. Q: Is 20 runs enough? A: The intervals exclude zero for 5G and satellite and include zero for lossy. Did you check it is not a simulator artefact? Yes: with the realistic rule the simulated gain mostly disappears, so we lean on the C results, which use that rule and equal window caps.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also tested two things people ask about. Fairness: two flows through one bottleneck. The neural agent is fair against itself and on short paths, but takes 74 percent against AIMD on the long 120 ms path, about like a fixed window. Ablation: we retrained the agent with one piece removed. Only the no-shrink mask matters; without it the agent is no better than AIMD. The other pieces showed no measurable value. The same recipe also gave very different results by seed, between 3.2 and 7.4 seconds, so we pick the seed on validation paths. While building the dashboard we found a retransmission storm in the web gateway and fixed it; there is also an adaptive timeout option now.</a:t>
            </a:r>
          </a:p>
          <a:p/>
          <a:p>
            <a:r>
              <a:t>If asked: Is the agent fair? Mostly, but not on the long path against AIMD (74% share, Jain 0.82). Fairness was only tested in the simulator, not in C.</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Fairness on real sockets: two neural flows split the link evenly, and so do two AIMD flows. But against tuned AIMD the neural agent takes 68 percent of the link, and 76 percent against the original AIMD. CUBIC takes 61 percent. So the agent is a more aggressive neighbour. Nothing starves, but it is not polite, and we did not test coexistence with TCP. That is our main limitation. We also added file transfer: the sender sends a real file and the received file is byte-identical in every run. A 4 megabyte file over the fast path takes 8.9 seconds with the agent against 21 seconds with tuned AIMD. The chat and web gateway now use the same window and bitmap as the C transport, and there is CI, fuzzing and an architecture document.</a:t>
            </a:r>
          </a:p>
          <a:p/>
          <a:p>
            <a:r>
              <a:t>If asked: Would this be safe to deploy? Not on a shared link yet: it needs fairness-aware training and TCP coexistence tests. For a dedicated path it is a clear win.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worked on the weaknesses we had listed. For fairness we added an optional polite mode: when a standing queue builds, the agent backs off. Over 8 runs against tuned AIMD it takes 52 percent of the link instead of 70, and the Jain index rises from 0.86 to 0.94. The price is speed: on 100 random paths the average time goes from 0.53 to 0.58 times AIMD's, and the worst path is 2.95 times slower, so it stays off by default. We also added bursty cross traffic to the test proxy. Here the result is less flattering: the agent is 15 percent faster than tuned AIMD, but level with CUBIC, and it retransmits about three times as often as AIMD. Three tweaks did not fix that, so we report it as a limit. Finally the server now handles up to 16 clients, checked by sending two files at once.</a:t>
            </a:r>
          </a:p>
          <a:p/>
          <a:p>
            <a:r>
              <a:t>If asked: Is polite mode learned? No. It is a hand-made rule on the delay signal. A learned version needs a two-flow training environment, which is future work.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The emulator is inside our client, so we also tested through a separate impairment process on real UDP sockets. That found three real defects. First, if the client's last handshake ACK is lost, the server ignored all following data and the transfer hung. We fixed it the way TCP does and added a regression test. Second, the spurious timeouts I just mentioned. Third, a fuzzer showed our byte-sum checksum let about 2 percent of corrupted packets through, so it is now CRC-16 and the fuzzer accepts none. On real sockets the neural agent is again fastest on every path: 17, 53, 45 and 39 percent faster than tuned AIMD on 5G, lossy, satellite and fast, and a tie on the hostile path.</a:t>
            </a:r>
          </a:p>
          <a:p/>
          <a:p>
            <a:r>
              <a:t>If asked: Is this a real network? It is real UDP sockets on one machine, with the impairment applied by a separate process. It is not a kernel netem or a multi-machine path; we provide the script for that but had no root access.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Server stuck after a killed client: it hung 15.5 s; fix was to accept SYN in any state. A leftover netem rule distorted results; we now check tc qdisc before each test. Windows Wireshark saw nothing: capture inside WSL. Benchmark script portability: replaced date and grep tricks with awk and sed.</a:t>
            </a:r>
          </a:p>
          <a:p/>
          <a:p>
            <a:r>
              <a:t>If asked: Say these quickly: it shows real debugging, which is what separates a project from a lab.</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Be honest: it did not beat AIMD. Plus 63 percent time on 5G-like, plus 10 percent on satellite, a tie on the lossy path. It used somewhat fewer retransmissions on two paths, within run-to-run noise. Earlier training rounds were much worse; this is the final configuration. The finding is that a simple learner does not beat a tuned rule. In the chat, retrained for bursty random-loss traffic, it does beat AIMD on most simulated paths; mention that on slide 19.</a:t>
            </a:r>
          </a:p>
          <a:p/>
          <a:p>
            <a:r>
              <a:t>If asked: Q: Then what was the point? A: The experiment. We tested whether a learned window helps and report the answer, including the negative result.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62 of 62 packets were delivered at every loss level from 0 to 40 percent. Higher loss costs time and retransmissions, never correctness.</a:t>
            </a:r>
          </a:p>
          <a:p/>
          <a:p>
            <a:r>
              <a:t>If asked: Q: Single runs? A: Yes, the original benchmark ran each level once. Smart-Poise evaluation uses 6 runs per scenario.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Jacobson and Karels 1988 is the origin of AIMD; Chiu and Jain 1989 explains why it converges fairly. RFC 5681 is the standard; CUBIC is future work; QUIC and RFC 9000 are reliable transport over UDP in production. The AI part comes from Midhula and Arun Raj Kumar (2024) and Cao et al. (2023, DRLFcc): deep reinforcement learning for congestion control. Smart-Poise applies the same idea with a smaller tabular Q-learning agent. Key researcher: Van Jacobson.</a:t>
            </a:r>
          </a:p>
          <a:p/>
          <a:p>
            <a:r>
              <a:t>If asked: Q: Why AIMD? A: Chiu and Jain show it converges to a fair share. Q: Are those papers deep RL and yours is not? A: Yes; we used a lookup table, which is simpler and inspectable.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Q-learning with 80 states (RTT ratio, loss fraction, window size), sampled once per RTT. Five actions: multiply the window by 0.5, 0.85, 1.0, 1.15 or 1.5. Reward: throughput gained, minus delay growth, minus retransmissions. Same Go-Back-N reliability; only the window policy changes. Paths are emulated in the program: 5G-like, lossy wireless, satellite-like.</a:t>
            </a:r>
          </a:p>
          <a:p/>
          <a:p>
            <a:r>
              <a:t>If asked: Q: Is it really learning? A: Yes, 40 training episodes; the learning-curve figure shows it. It is small and tabular with limited training.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This is the agent itself. Left: rl_cc.h, 73 lines of C. The state is 80 buckets of RTT ratio, loss and window size. choose picks one of five window multipliers, usually the best, sometimes random so it keeps exploring. update is the Q-learning rule: move the value of the action we took toward the reward plus the best value of the next state. Right: the loop in smart_client.c. Once per RTT it computes the reward, throughput minus delay growth minus loss, updates the table, picks the next action and scales the window. The code on the slide is simplified; the real files are in the repo. We also built a deep version: web/dqn.py is a small neural network, two hidden layers of 32, trained with DQN in the same simulator. It reads continuous inputs instead of buckets.</a:t>
            </a:r>
          </a:p>
          <a:p/>
          <a:p>
            <a:r>
              <a:t>If asked: Q: Is this deep RL? A: The C agent is tabular. The chat also has a deep agent, a small DQN in numpy (5-32-32-5). Q: Does deep beat the table? A: Modestly: 3.20 s vs 3.73 s mean on 48 unseen paths, faster on 19, slower on 6. Q: Any problem? A: Training is seed-sensitive: 1 of 4 seeds failed, so we select on validation paths. It is simulated and not in the C code. Q: Where is it trained? A: web/train.py for the chat, the smart client trains online for the main experiments; table in results/q_chat.txt.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Only if asked: the window starts at 1, adds 1 per ACK until the threshold 16, then 1/window per ACK. In the 62-packet run the final window was 18.71.</a:t>
            </a:r>
          </a:p>
          <a:p/>
          <a:p>
            <a:r>
              <a:t>If asked: Use this slide to answer 'show me congestion avoidance'.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731520" y="1463040"/>
            <a:ext cx="10515600" cy="1188720"/>
          </a:xfrm>
          <a:prstGeom prst="rect">
            <a:avLst/>
          </a:prstGeom>
          <a:noFill/>
          <a:ln/>
        </p:spPr>
        <p:txBody>
          <a:bodyPr wrap="square" lIns="0" tIns="0" rIns="0" bIns="0" rtlCol="0" anchor="ctr"/>
          <a:lstStyle/>
          <a:p>
            <a:pPr indent="0" marL="0">
              <a:buNone/>
            </a:pPr>
            <a:r>
              <a:rPr lang="en-US" sz="7200" b="1" dirty="0">
                <a:solidFill>
                  <a:srgbClr val="2DD4BF"/>
                </a:solidFill>
                <a:latin typeface="Calibri" pitchFamily="34" charset="0"/>
                <a:ea typeface="Calibri" pitchFamily="34" charset="-122"/>
                <a:cs typeface="Calibri" pitchFamily="34" charset="-120"/>
              </a:rPr>
              <a:t>Smart-Poise</a:t>
            </a:r>
            <a:endParaRPr lang="en-US" sz="7200" dirty="0"/>
          </a:p>
        </p:txBody>
      </p:sp>
      <p:sp>
        <p:nvSpPr>
          <p:cNvPr id="3" name="Text 1"/>
          <p:cNvSpPr/>
          <p:nvPr/>
        </p:nvSpPr>
        <p:spPr>
          <a:xfrm>
            <a:off x="731520" y="2743200"/>
            <a:ext cx="10515600" cy="822960"/>
          </a:xfrm>
          <a:prstGeom prst="rect">
            <a:avLst/>
          </a:prstGeom>
          <a:noFill/>
          <a:ln/>
        </p:spPr>
        <p:txBody>
          <a:bodyPr wrap="square" lIns="0" tIns="0" rIns="0" bIns="0" rtlCol="0" anchor="ctr"/>
          <a:lstStyle/>
          <a:p>
            <a:pPr indent="0" marL="0">
              <a:buNone/>
            </a:pPr>
            <a:r>
              <a:rPr lang="en-US" sz="2600" dirty="0">
                <a:solidFill>
                  <a:srgbClr val="EAF0F8"/>
                </a:solidFill>
                <a:latin typeface="Calibri" pitchFamily="34" charset="0"/>
                <a:ea typeface="Calibri" pitchFamily="34" charset="-122"/>
                <a:cs typeface="Calibri" pitchFamily="34" charset="-120"/>
              </a:rPr>
              <a:t>Reliable UDP in C, with a neural network that learns congestion control</a:t>
            </a:r>
            <a:endParaRPr lang="en-US" sz="2600" dirty="0"/>
          </a:p>
        </p:txBody>
      </p:sp>
      <p:sp>
        <p:nvSpPr>
          <p:cNvPr id="4" name="Text 2"/>
          <p:cNvSpPr/>
          <p:nvPr/>
        </p:nvSpPr>
        <p:spPr>
          <a:xfrm>
            <a:off x="731520" y="3840480"/>
            <a:ext cx="10515600" cy="365760"/>
          </a:xfrm>
          <a:prstGeom prst="rect">
            <a:avLst/>
          </a:prstGeom>
          <a:noFill/>
          <a:ln/>
        </p:spPr>
        <p:txBody>
          <a:bodyPr wrap="square" lIns="0" tIns="0" rIns="0" bIns="0" rtlCol="0" anchor="ctr"/>
          <a:lstStyle/>
          <a:p>
            <a:pPr indent="0" marL="0">
              <a:buNone/>
            </a:pPr>
            <a:r>
              <a:rPr lang="en-US" sz="1800" dirty="0">
                <a:solidFill>
                  <a:srgbClr val="FBBF24"/>
                </a:solidFill>
                <a:latin typeface="Calibri" pitchFamily="34" charset="0"/>
                <a:ea typeface="Calibri" pitchFamily="34" charset="-122"/>
                <a:cs typeface="Calibri" pitchFamily="34" charset="-120"/>
              </a:rPr>
              <a:t>Computer Networks   |   Faculty: Anuradha G   |   VIT Vellore</a:t>
            </a:r>
            <a:endParaRPr lang="en-US" sz="1800" dirty="0"/>
          </a:p>
        </p:txBody>
      </p:sp>
      <p:sp>
        <p:nvSpPr>
          <p:cNvPr id="5" name="Text 3"/>
          <p:cNvSpPr/>
          <p:nvPr/>
        </p:nvSpPr>
        <p:spPr>
          <a:xfrm>
            <a:off x="731520" y="4343400"/>
            <a:ext cx="10972800" cy="365760"/>
          </a:xfrm>
          <a:prstGeom prst="rect">
            <a:avLst/>
          </a:prstGeom>
          <a:noFill/>
          <a:ln/>
        </p:spPr>
        <p:txBody>
          <a:bodyPr wrap="square" lIns="0" tIns="0" rIns="0" bIns="0" rtlCol="0" anchor="ctr"/>
          <a:lstStyle/>
          <a:p>
            <a:pPr indent="0" marL="0">
              <a:buNone/>
            </a:pPr>
            <a:r>
              <a:rPr lang="en-US" sz="1600" dirty="0">
                <a:solidFill>
                  <a:srgbClr val="8FA1BC"/>
                </a:solidFill>
                <a:latin typeface="Calibri" pitchFamily="34" charset="0"/>
                <a:ea typeface="Calibri" pitchFamily="34" charset="-122"/>
                <a:cs typeface="Calibri" pitchFamily="34" charset="-120"/>
              </a:rPr>
              <a:t>Harshavardhan Mallela 24BAI0274    Rohit Arya 24BCE0819    Shloak Sinha 24BDS0378</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WHY</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UDP is fast but unreliable; TCP is reliable but locked in the kernel</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 / 26</a:t>
            </a:r>
            <a:endParaRPr lang="en-US" sz="1000" dirty="0"/>
          </a:p>
        </p:txBody>
      </p:sp>
      <p:sp>
        <p:nvSpPr>
          <p:cNvPr id="5" name="Shape 3"/>
          <p:cNvSpPr/>
          <p:nvPr/>
        </p:nvSpPr>
        <p:spPr>
          <a:xfrm>
            <a:off x="548640" y="1645920"/>
            <a:ext cx="5394960" cy="2103120"/>
          </a:xfrm>
          <a:prstGeom prst="rect">
            <a:avLst/>
          </a:prstGeom>
          <a:solidFill>
            <a:srgbClr val="121B2F"/>
          </a:solidFill>
          <a:ln w="12700">
            <a:solidFill>
              <a:srgbClr val="FBBF24"/>
            </a:solidFill>
            <a:prstDash val="solid"/>
          </a:ln>
        </p:spPr>
      </p:sp>
      <p:sp>
        <p:nvSpPr>
          <p:cNvPr id="6" name="Text 4"/>
          <p:cNvSpPr/>
          <p:nvPr/>
        </p:nvSpPr>
        <p:spPr>
          <a:xfrm>
            <a:off x="731520" y="1755648"/>
            <a:ext cx="502920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UDP</a:t>
            </a:r>
            <a:endParaRPr lang="en-US" sz="1800" dirty="0"/>
          </a:p>
        </p:txBody>
      </p:sp>
      <p:sp>
        <p:nvSpPr>
          <p:cNvPr id="7" name="Text 5"/>
          <p:cNvSpPr/>
          <p:nvPr/>
        </p:nvSpPr>
        <p:spPr>
          <a:xfrm>
            <a:off x="731520" y="2212848"/>
            <a:ext cx="5029200" cy="1417320"/>
          </a:xfrm>
          <a:prstGeom prst="rect">
            <a:avLst/>
          </a:prstGeom>
          <a:noFill/>
          <a:ln/>
        </p:spPr>
        <p:txBody>
          <a:bodyPr wrap="square" lIns="0" tIns="0" rIns="0" bIns="0" rtlCol="0" anchor="t"/>
          <a:lstStyle/>
          <a:p>
            <a:pPr indent="0" marL="0">
              <a:spcAft>
                <a:spcPts val="400"/>
              </a:spcAft>
              <a:buNone/>
            </a:pPr>
            <a:r>
              <a:rPr lang="en-US" sz="1500" dirty="0">
                <a:solidFill>
                  <a:srgbClr val="EAF0F8"/>
                </a:solidFill>
                <a:latin typeface="Calibri" pitchFamily="34" charset="0"/>
                <a:ea typeface="Calibri" pitchFamily="34" charset="-122"/>
                <a:cs typeface="Calibri" pitchFamily="34" charset="-120"/>
              </a:rPr>
              <a:t>Fast and simple. Packets can be lost, duplicated or reordered, and nothing tells the sender.</a:t>
            </a:r>
            <a:endParaRPr lang="en-US" sz="1500" dirty="0"/>
          </a:p>
        </p:txBody>
      </p:sp>
      <p:sp>
        <p:nvSpPr>
          <p:cNvPr id="8" name="Shape 6"/>
          <p:cNvSpPr/>
          <p:nvPr/>
        </p:nvSpPr>
        <p:spPr>
          <a:xfrm>
            <a:off x="6217920" y="1645920"/>
            <a:ext cx="5394960" cy="2103120"/>
          </a:xfrm>
          <a:prstGeom prst="rect">
            <a:avLst/>
          </a:prstGeom>
          <a:solidFill>
            <a:srgbClr val="121B2F"/>
          </a:solidFill>
          <a:ln w="12700">
            <a:solidFill>
              <a:srgbClr val="FBBF24"/>
            </a:solidFill>
            <a:prstDash val="solid"/>
          </a:ln>
        </p:spPr>
      </p:sp>
      <p:sp>
        <p:nvSpPr>
          <p:cNvPr id="9" name="Text 7"/>
          <p:cNvSpPr/>
          <p:nvPr/>
        </p:nvSpPr>
        <p:spPr>
          <a:xfrm>
            <a:off x="6400800" y="1755648"/>
            <a:ext cx="502920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TCP</a:t>
            </a:r>
            <a:endParaRPr lang="en-US" sz="1800" dirty="0"/>
          </a:p>
        </p:txBody>
      </p:sp>
      <p:sp>
        <p:nvSpPr>
          <p:cNvPr id="10" name="Text 8"/>
          <p:cNvSpPr/>
          <p:nvPr/>
        </p:nvSpPr>
        <p:spPr>
          <a:xfrm>
            <a:off x="6400800" y="2212848"/>
            <a:ext cx="5029200" cy="1417320"/>
          </a:xfrm>
          <a:prstGeom prst="rect">
            <a:avLst/>
          </a:prstGeom>
          <a:noFill/>
          <a:ln/>
        </p:spPr>
        <p:txBody>
          <a:bodyPr wrap="square" lIns="0" tIns="0" rIns="0" bIns="0" rtlCol="0" anchor="t"/>
          <a:lstStyle/>
          <a:p>
            <a:pPr indent="0" marL="0">
              <a:spcAft>
                <a:spcPts val="400"/>
              </a:spcAft>
              <a:buNone/>
            </a:pPr>
            <a:r>
              <a:rPr lang="en-US" sz="1500" dirty="0">
                <a:solidFill>
                  <a:srgbClr val="EAF0F8"/>
                </a:solidFill>
                <a:latin typeface="Calibri" pitchFamily="34" charset="0"/>
                <a:ea typeface="Calibri" pitchFamily="34" charset="-122"/>
                <a:cs typeface="Calibri" pitchFamily="34" charset="-120"/>
              </a:rPr>
              <a:t>Reliable, but it lives inside the operating system: hard to see, hard to change, hard to learn from.</a:t>
            </a:r>
            <a:endParaRPr lang="en-US" sz="1500" dirty="0"/>
          </a:p>
        </p:txBody>
      </p:sp>
      <p:sp>
        <p:nvSpPr>
          <p:cNvPr id="11" name="Text 9"/>
          <p:cNvSpPr/>
          <p:nvPr/>
        </p:nvSpPr>
        <p:spPr>
          <a:xfrm>
            <a:off x="548640" y="4114800"/>
            <a:ext cx="109728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Calibri" pitchFamily="34" charset="0"/>
                <a:ea typeface="Calibri" pitchFamily="34" charset="-122"/>
                <a:cs typeface="Calibri" pitchFamily="34" charset="-120"/>
              </a:rPr>
              <a:t>Our question</a:t>
            </a:r>
            <a:endParaRPr lang="en-US" sz="1400" dirty="0"/>
          </a:p>
        </p:txBody>
      </p:sp>
      <p:sp>
        <p:nvSpPr>
          <p:cNvPr id="12" name="Text 10"/>
          <p:cNvSpPr/>
          <p:nvPr/>
        </p:nvSpPr>
        <p:spPr>
          <a:xfrm>
            <a:off x="548640" y="4526280"/>
            <a:ext cx="11064240" cy="1097280"/>
          </a:xfrm>
          <a:prstGeom prst="rect">
            <a:avLst/>
          </a:prstGeom>
          <a:noFill/>
          <a:ln/>
        </p:spPr>
        <p:txBody>
          <a:bodyPr wrap="square" lIns="0" tIns="0" rIns="0" bIns="0" rtlCol="0" anchor="ctr"/>
          <a:lstStyle/>
          <a:p>
            <a:pPr indent="0" marL="0">
              <a:buNone/>
            </a:pPr>
            <a:r>
              <a:rPr lang="en-US" sz="2400" b="1" dirty="0">
                <a:solidFill>
                  <a:srgbClr val="EAF0F8"/>
                </a:solidFill>
                <a:latin typeface="Calibri" pitchFamily="34" charset="0"/>
                <a:ea typeface="Calibri" pitchFamily="34" charset="-122"/>
                <a:cs typeface="Calibri" pitchFamily="34" charset="-120"/>
              </a:rPr>
              <a:t>Can we rebuild the core ideas of TCP ourselves on top of UDP, in a form we can read, tune and teach a neural network to control?</a:t>
            </a:r>
            <a:endParaRPr lang="en-US" sz="2400" dirty="0"/>
          </a:p>
        </p:txBody>
      </p:sp>
      <p:sp>
        <p:nvSpPr>
          <p:cNvPr id="13" name="Text 11"/>
          <p:cNvSpPr/>
          <p:nvPr/>
        </p:nvSpPr>
        <p:spPr>
          <a:xfrm>
            <a:off x="548640" y="585216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QUIC and HTTP/3 take the same route: reliability built in user space over UDP.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WHAT WE BUILT</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A complete system: protocol, learned controller, network and tools</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3 / 26</a:t>
            </a:r>
            <a:endParaRPr lang="en-US" sz="1000" dirty="0"/>
          </a:p>
        </p:txBody>
      </p:sp>
      <p:sp>
        <p:nvSpPr>
          <p:cNvPr id="5" name="Shape 3"/>
          <p:cNvSpPr/>
          <p:nvPr/>
        </p:nvSpPr>
        <p:spPr>
          <a:xfrm>
            <a:off x="548640" y="1737360"/>
            <a:ext cx="2697480" cy="3108960"/>
          </a:xfrm>
          <a:prstGeom prst="rect">
            <a:avLst/>
          </a:prstGeom>
          <a:solidFill>
            <a:srgbClr val="121B2F"/>
          </a:solidFill>
          <a:ln w="12700">
            <a:solidFill>
              <a:srgbClr val="2DD4BF"/>
            </a:solidFill>
            <a:prstDash val="solid"/>
          </a:ln>
        </p:spPr>
      </p:sp>
      <p:sp>
        <p:nvSpPr>
          <p:cNvPr id="6" name="Text 4"/>
          <p:cNvSpPr/>
          <p:nvPr/>
        </p:nvSpPr>
        <p:spPr>
          <a:xfrm>
            <a:off x="731520" y="184708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Poise protocol</a:t>
            </a:r>
            <a:endParaRPr lang="en-US" sz="1800" dirty="0"/>
          </a:p>
        </p:txBody>
      </p:sp>
      <p:sp>
        <p:nvSpPr>
          <p:cNvPr id="7" name="Text 5"/>
          <p:cNvSpPr/>
          <p:nvPr/>
        </p:nvSpPr>
        <p:spPr>
          <a:xfrm>
            <a:off x="731520" y="2304288"/>
            <a:ext cx="2331720" cy="2423160"/>
          </a:xfrm>
          <a:prstGeom prst="rect">
            <a:avLst/>
          </a:prstGeom>
          <a:noFill/>
          <a:ln/>
        </p:spPr>
        <p:txBody>
          <a:bodyPr wrap="square" lIns="0" tIns="0" rIns="0" bIns="0" rtlCol="0" anchor="t"/>
          <a:lstStyle/>
          <a:p>
            <a:pPr indent="0" marL="0">
              <a:spcAft>
                <a:spcPts val="400"/>
              </a:spcAft>
              <a:buNone/>
            </a:pPr>
            <a:r>
              <a:rPr lang="en-US" sz="1600" dirty="0">
                <a:solidFill>
                  <a:srgbClr val="EAF0F8"/>
                </a:solidFill>
                <a:latin typeface="Calibri" pitchFamily="34" charset="0"/>
                <a:ea typeface="Calibri" pitchFamily="34" charset="-122"/>
                <a:cs typeface="Calibri" pitchFamily="34" charset="-120"/>
              </a:rPr>
              <a:t>Handshake, Selective Repeat, CRC-16, adaptive timer. About 470 lines of C in the core.</a:t>
            </a:r>
            <a:endParaRPr lang="en-US" sz="1600" dirty="0"/>
          </a:p>
        </p:txBody>
      </p:sp>
      <p:sp>
        <p:nvSpPr>
          <p:cNvPr id="8" name="Shape 6"/>
          <p:cNvSpPr/>
          <p:nvPr/>
        </p:nvSpPr>
        <p:spPr>
          <a:xfrm>
            <a:off x="3383280" y="1737360"/>
            <a:ext cx="2697480" cy="3108960"/>
          </a:xfrm>
          <a:prstGeom prst="rect">
            <a:avLst/>
          </a:prstGeom>
          <a:solidFill>
            <a:srgbClr val="121B2F"/>
          </a:solidFill>
          <a:ln w="12700">
            <a:solidFill>
              <a:srgbClr val="FBBF24"/>
            </a:solidFill>
            <a:prstDash val="solid"/>
          </a:ln>
        </p:spPr>
      </p:sp>
      <p:sp>
        <p:nvSpPr>
          <p:cNvPr id="9" name="Text 7"/>
          <p:cNvSpPr/>
          <p:nvPr/>
        </p:nvSpPr>
        <p:spPr>
          <a:xfrm>
            <a:off x="3566160" y="1847088"/>
            <a:ext cx="233172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Smart-Poise controller</a:t>
            </a:r>
            <a:endParaRPr lang="en-US" sz="1800" dirty="0"/>
          </a:p>
        </p:txBody>
      </p:sp>
      <p:sp>
        <p:nvSpPr>
          <p:cNvPr id="10" name="Text 8"/>
          <p:cNvSpPr/>
          <p:nvPr/>
        </p:nvSpPr>
        <p:spPr>
          <a:xfrm>
            <a:off x="3566160" y="2304288"/>
            <a:ext cx="2331720" cy="2423160"/>
          </a:xfrm>
          <a:prstGeom prst="rect">
            <a:avLst/>
          </a:prstGeom>
          <a:noFill/>
          <a:ln/>
        </p:spPr>
        <p:txBody>
          <a:bodyPr wrap="square" lIns="0" tIns="0" rIns="0" bIns="0" rtlCol="0" anchor="t"/>
          <a:lstStyle/>
          <a:p>
            <a:pPr indent="0" marL="0">
              <a:spcAft>
                <a:spcPts val="400"/>
              </a:spcAft>
              <a:buNone/>
            </a:pPr>
            <a:r>
              <a:rPr lang="en-US" sz="1600" dirty="0">
                <a:solidFill>
                  <a:srgbClr val="EAF0F8"/>
                </a:solidFill>
                <a:latin typeface="Calibri" pitchFamily="34" charset="0"/>
                <a:ea typeface="Calibri" pitchFamily="34" charset="-122"/>
                <a:cs typeface="Calibri" pitchFamily="34" charset="-120"/>
              </a:rPr>
              <a:t>A 5-32-32-5 neural network picks the window; safety net hands over to AIMD when loss is high.</a:t>
            </a:r>
            <a:endParaRPr lang="en-US" sz="1600" dirty="0"/>
          </a:p>
        </p:txBody>
      </p:sp>
      <p:sp>
        <p:nvSpPr>
          <p:cNvPr id="11" name="Shape 9"/>
          <p:cNvSpPr/>
          <p:nvPr/>
        </p:nvSpPr>
        <p:spPr>
          <a:xfrm>
            <a:off x="6217920" y="1737360"/>
            <a:ext cx="2697480" cy="3108960"/>
          </a:xfrm>
          <a:prstGeom prst="rect">
            <a:avLst/>
          </a:prstGeom>
          <a:solidFill>
            <a:srgbClr val="121B2F"/>
          </a:solidFill>
          <a:ln w="12700">
            <a:solidFill>
              <a:srgbClr val="60A5FA"/>
            </a:solidFill>
            <a:prstDash val="solid"/>
          </a:ln>
        </p:spPr>
      </p:sp>
      <p:sp>
        <p:nvSpPr>
          <p:cNvPr id="12" name="Text 10"/>
          <p:cNvSpPr/>
          <p:nvPr/>
        </p:nvSpPr>
        <p:spPr>
          <a:xfrm>
            <a:off x="6400800" y="1847088"/>
            <a:ext cx="2331720" cy="411480"/>
          </a:xfrm>
          <a:prstGeom prst="rect">
            <a:avLst/>
          </a:prstGeom>
          <a:noFill/>
          <a:ln/>
        </p:spPr>
        <p:txBody>
          <a:bodyPr wrap="square" lIns="0" tIns="0" rIns="0" bIns="0" rtlCol="0" anchor="ctr"/>
          <a:lstStyle/>
          <a:p>
            <a:pPr indent="0" marL="0">
              <a:buNone/>
            </a:pPr>
            <a:r>
              <a:rPr lang="en-US" sz="1800" b="1" dirty="0">
                <a:solidFill>
                  <a:srgbClr val="60A5FA"/>
                </a:solidFill>
                <a:latin typeface="Calibri" pitchFamily="34" charset="0"/>
                <a:ea typeface="Calibri" pitchFamily="34" charset="-122"/>
                <a:cs typeface="Calibri" pitchFamily="34" charset="-120"/>
              </a:rPr>
              <a:t>Network design</a:t>
            </a:r>
            <a:endParaRPr lang="en-US" sz="1800" dirty="0"/>
          </a:p>
        </p:txBody>
      </p:sp>
      <p:sp>
        <p:nvSpPr>
          <p:cNvPr id="13" name="Text 11"/>
          <p:cNvSpPr/>
          <p:nvPr/>
        </p:nvSpPr>
        <p:spPr>
          <a:xfrm>
            <a:off x="6400800" y="2304288"/>
            <a:ext cx="2331720" cy="2423160"/>
          </a:xfrm>
          <a:prstGeom prst="rect">
            <a:avLst/>
          </a:prstGeom>
          <a:noFill/>
          <a:ln/>
        </p:spPr>
        <p:txBody>
          <a:bodyPr wrap="square" lIns="0" tIns="0" rIns="0" bIns="0" rtlCol="0" anchor="t"/>
          <a:lstStyle/>
          <a:p>
            <a:pPr indent="0" marL="0">
              <a:spcAft>
                <a:spcPts val="400"/>
              </a:spcAft>
              <a:buNone/>
            </a:pPr>
            <a:r>
              <a:rPr lang="en-US" sz="1600" dirty="0">
                <a:solidFill>
                  <a:srgbClr val="EAF0F8"/>
                </a:solidFill>
                <a:latin typeface="Calibri" pitchFamily="34" charset="0"/>
                <a:ea typeface="Calibri" pitchFamily="34" charset="-122"/>
                <a:cs typeface="Calibri" pitchFamily="34" charset="-120"/>
              </a:rPr>
              <a:t>Four routers, OSPF, VLANs and an ACL in Cisco Packet Tracer, with failover.</a:t>
            </a:r>
            <a:endParaRPr lang="en-US" sz="1600" dirty="0"/>
          </a:p>
        </p:txBody>
      </p:sp>
      <p:sp>
        <p:nvSpPr>
          <p:cNvPr id="14" name="Shape 12"/>
          <p:cNvSpPr/>
          <p:nvPr/>
        </p:nvSpPr>
        <p:spPr>
          <a:xfrm>
            <a:off x="9052560" y="1737360"/>
            <a:ext cx="2697480" cy="3108960"/>
          </a:xfrm>
          <a:prstGeom prst="rect">
            <a:avLst/>
          </a:prstGeom>
          <a:solidFill>
            <a:srgbClr val="121B2F"/>
          </a:solidFill>
          <a:ln w="12700">
            <a:solidFill>
              <a:srgbClr val="2DD4BF"/>
            </a:solidFill>
            <a:prstDash val="solid"/>
          </a:ln>
        </p:spPr>
      </p:sp>
      <p:sp>
        <p:nvSpPr>
          <p:cNvPr id="15" name="Text 13"/>
          <p:cNvSpPr/>
          <p:nvPr/>
        </p:nvSpPr>
        <p:spPr>
          <a:xfrm>
            <a:off x="9235440" y="184708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Applications and tools</a:t>
            </a:r>
            <a:endParaRPr lang="en-US" sz="1800" dirty="0"/>
          </a:p>
        </p:txBody>
      </p:sp>
      <p:sp>
        <p:nvSpPr>
          <p:cNvPr id="16" name="Text 14"/>
          <p:cNvSpPr/>
          <p:nvPr/>
        </p:nvSpPr>
        <p:spPr>
          <a:xfrm>
            <a:off x="9235440" y="2304288"/>
            <a:ext cx="2331720" cy="2423160"/>
          </a:xfrm>
          <a:prstGeom prst="rect">
            <a:avLst/>
          </a:prstGeom>
          <a:noFill/>
          <a:ln/>
        </p:spPr>
        <p:txBody>
          <a:bodyPr wrap="square" lIns="0" tIns="0" rIns="0" bIns="0" rtlCol="0" anchor="t"/>
          <a:lstStyle/>
          <a:p>
            <a:pPr indent="0" marL="0">
              <a:spcAft>
                <a:spcPts val="400"/>
              </a:spcAft>
              <a:buNone/>
            </a:pPr>
            <a:r>
              <a:rPr lang="en-US" sz="1600" dirty="0">
                <a:solidFill>
                  <a:srgbClr val="EAF0F8"/>
                </a:solidFill>
                <a:latin typeface="Calibri" pitchFamily="34" charset="0"/>
                <a:ea typeface="Calibri" pitchFamily="34" charset="-122"/>
                <a:cs typeface="Calibri" pitchFamily="34" charset="-120"/>
              </a:rPr>
              <a:t>Terminal and web chat, Poise Drop file race, Wireshark dissector, a C library.</a:t>
            </a:r>
            <a:endParaRPr lang="en-US" sz="1600" dirty="0"/>
          </a:p>
        </p:txBody>
      </p:sp>
      <p:sp>
        <p:nvSpPr>
          <p:cNvPr id="17" name="Text 15"/>
          <p:cNvSpPr/>
          <p:nvPr/>
        </p:nvSpPr>
        <p:spPr>
          <a:xfrm>
            <a:off x="548640" y="5120640"/>
            <a:ext cx="11064240" cy="822960"/>
          </a:xfrm>
          <a:prstGeom prst="rect">
            <a:avLst/>
          </a:prstGeom>
          <a:noFill/>
          <a:ln/>
        </p:spPr>
        <p:txBody>
          <a:bodyPr wrap="square" lIns="0" tIns="0" rIns="0" bIns="0" rtlCol="0" anchor="ctr"/>
          <a:lstStyle/>
          <a:p>
            <a:pPr indent="0" marL="0">
              <a:buNone/>
            </a:pPr>
            <a:r>
              <a:rPr lang="en-US" sz="1700" dirty="0">
                <a:solidFill>
                  <a:srgbClr val="EAF0F8"/>
                </a:solidFill>
                <a:latin typeface="Calibri" pitchFamily="34" charset="0"/>
                <a:ea typeface="Calibri" pitchFamily="34" charset="-122"/>
                <a:cs typeface="Calibri" pitchFamily="34" charset="-120"/>
              </a:rPr>
              <a:t>A student on VLAN 10 uploads a file to the server LAN. The ACL blocks staff VLAN 20. If a core link fails, OSPF reroutes through R2 and the transport adapts to the longer path.</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The neural agent beats tuned AIMD on every kind of path we tested</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4 / 26</a:t>
            </a:r>
            <a:endParaRPr lang="en-US" sz="1000" dirty="0"/>
          </a:p>
        </p:txBody>
      </p:sp>
      <p:sp>
        <p:nvSpPr>
          <p:cNvPr id="5" name="Shape 3"/>
          <p:cNvSpPr/>
          <p:nvPr/>
        </p:nvSpPr>
        <p:spPr>
          <a:xfrm>
            <a:off x="548640" y="1645920"/>
            <a:ext cx="3566160" cy="1920240"/>
          </a:xfrm>
          <a:prstGeom prst="rect">
            <a:avLst/>
          </a:prstGeom>
          <a:solidFill>
            <a:srgbClr val="121B2F"/>
          </a:solidFill>
          <a:ln w="12700">
            <a:solidFill>
              <a:srgbClr val="24324D"/>
            </a:solidFill>
            <a:prstDash val="solid"/>
          </a:ln>
        </p:spPr>
      </p:sp>
      <p:sp>
        <p:nvSpPr>
          <p:cNvPr id="6" name="Text 4"/>
          <p:cNvSpPr/>
          <p:nvPr/>
        </p:nvSpPr>
        <p:spPr>
          <a:xfrm>
            <a:off x="731520" y="1783080"/>
            <a:ext cx="3200400" cy="960120"/>
          </a:xfrm>
          <a:prstGeom prst="rect">
            <a:avLst/>
          </a:prstGeom>
          <a:noFill/>
          <a:ln/>
        </p:spPr>
        <p:txBody>
          <a:bodyPr wrap="square" lIns="0" tIns="0" rIns="0" bIns="0" rtlCol="0" anchor="ctr"/>
          <a:lstStyle/>
          <a:p>
            <a:pPr indent="0" marL="0">
              <a:buNone/>
            </a:pPr>
            <a:r>
              <a:rPr lang="en-US" sz="4000" b="1" dirty="0">
                <a:solidFill>
                  <a:srgbClr val="2DD4BF"/>
                </a:solidFill>
                <a:latin typeface="Calibri" pitchFamily="34" charset="0"/>
                <a:ea typeface="Calibri" pitchFamily="34" charset="-122"/>
                <a:cs typeface="Calibri" pitchFamily="34" charset="-120"/>
              </a:rPr>
              <a:t>15% to 52%</a:t>
            </a:r>
            <a:endParaRPr lang="en-US" sz="4000" dirty="0"/>
          </a:p>
        </p:txBody>
      </p:sp>
      <p:sp>
        <p:nvSpPr>
          <p:cNvPr id="7" name="Text 5"/>
          <p:cNvSpPr/>
          <p:nvPr/>
        </p:nvSpPr>
        <p:spPr>
          <a:xfrm>
            <a:off x="731520" y="270205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less time than tuned AIMD on 4 of 5 paths (real clock, 10 paired runs)</a:t>
            </a:r>
            <a:endParaRPr lang="en-US" sz="1500" dirty="0"/>
          </a:p>
        </p:txBody>
      </p:sp>
      <p:sp>
        <p:nvSpPr>
          <p:cNvPr id="8" name="Shape 6"/>
          <p:cNvSpPr/>
          <p:nvPr/>
        </p:nvSpPr>
        <p:spPr>
          <a:xfrm>
            <a:off x="4297680" y="1645920"/>
            <a:ext cx="3566160" cy="1920240"/>
          </a:xfrm>
          <a:prstGeom prst="rect">
            <a:avLst/>
          </a:prstGeom>
          <a:solidFill>
            <a:srgbClr val="121B2F"/>
          </a:solidFill>
          <a:ln w="12700">
            <a:solidFill>
              <a:srgbClr val="24324D"/>
            </a:solidFill>
            <a:prstDash val="solid"/>
          </a:ln>
        </p:spPr>
      </p:sp>
      <p:sp>
        <p:nvSpPr>
          <p:cNvPr id="9" name="Text 7"/>
          <p:cNvSpPr/>
          <p:nvPr/>
        </p:nvSpPr>
        <p:spPr>
          <a:xfrm>
            <a:off x="4480560" y="1783080"/>
            <a:ext cx="3200400" cy="960120"/>
          </a:xfrm>
          <a:prstGeom prst="rect">
            <a:avLst/>
          </a:prstGeom>
          <a:noFill/>
          <a:ln/>
        </p:spPr>
        <p:txBody>
          <a:bodyPr wrap="square" lIns="0" tIns="0" rIns="0" bIns="0" rtlCol="0" anchor="ctr"/>
          <a:lstStyle/>
          <a:p>
            <a:pPr indent="0" marL="0">
              <a:buNone/>
            </a:pPr>
            <a:r>
              <a:rPr lang="en-US" sz="4000" b="1" dirty="0">
                <a:solidFill>
                  <a:srgbClr val="2DD4BF"/>
                </a:solidFill>
                <a:latin typeface="Calibri" pitchFamily="34" charset="0"/>
                <a:ea typeface="Calibri" pitchFamily="34" charset="-122"/>
                <a:cs typeface="Calibri" pitchFamily="34" charset="-120"/>
              </a:rPr>
              <a:t>65% to 83%</a:t>
            </a:r>
            <a:endParaRPr lang="en-US" sz="4000" dirty="0"/>
          </a:p>
        </p:txBody>
      </p:sp>
      <p:sp>
        <p:nvSpPr>
          <p:cNvPr id="10" name="Text 8"/>
          <p:cNvSpPr/>
          <p:nvPr/>
        </p:nvSpPr>
        <p:spPr>
          <a:xfrm>
            <a:off x="4480560" y="270205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less time on the real Linux kernel (netem), significant on three paths</a:t>
            </a:r>
            <a:endParaRPr lang="en-US" sz="1500" dirty="0"/>
          </a:p>
        </p:txBody>
      </p:sp>
      <p:sp>
        <p:nvSpPr>
          <p:cNvPr id="11" name="Shape 9"/>
          <p:cNvSpPr/>
          <p:nvPr/>
        </p:nvSpPr>
        <p:spPr>
          <a:xfrm>
            <a:off x="8046720" y="1645920"/>
            <a:ext cx="3566160" cy="1920240"/>
          </a:xfrm>
          <a:prstGeom prst="rect">
            <a:avLst/>
          </a:prstGeom>
          <a:solidFill>
            <a:srgbClr val="121B2F"/>
          </a:solidFill>
          <a:ln w="12700">
            <a:solidFill>
              <a:srgbClr val="24324D"/>
            </a:solidFill>
            <a:prstDash val="solid"/>
          </a:ln>
        </p:spPr>
      </p:sp>
      <p:sp>
        <p:nvSpPr>
          <p:cNvPr id="12" name="Text 10"/>
          <p:cNvSpPr/>
          <p:nvPr/>
        </p:nvSpPr>
        <p:spPr>
          <a:xfrm>
            <a:off x="8229600" y="1783080"/>
            <a:ext cx="3200400" cy="960120"/>
          </a:xfrm>
          <a:prstGeom prst="rect">
            <a:avLst/>
          </a:prstGeom>
          <a:noFill/>
          <a:ln/>
        </p:spPr>
        <p:txBody>
          <a:bodyPr wrap="square" lIns="0" tIns="0" rIns="0" bIns="0" rtlCol="0" anchor="ctr"/>
          <a:lstStyle/>
          <a:p>
            <a:pPr indent="0" marL="0">
              <a:buNone/>
            </a:pPr>
            <a:r>
              <a:rPr lang="en-US" sz="4000" b="1" dirty="0">
                <a:solidFill>
                  <a:srgbClr val="2DD4BF"/>
                </a:solidFill>
                <a:latin typeface="Calibri" pitchFamily="34" charset="0"/>
                <a:ea typeface="Calibri" pitchFamily="34" charset="-122"/>
                <a:cs typeface="Calibri" pitchFamily="34" charset="-120"/>
              </a:rPr>
              <a:t>0.53x</a:t>
            </a:r>
            <a:endParaRPr lang="en-US" sz="4000" dirty="0"/>
          </a:p>
        </p:txBody>
      </p:sp>
      <p:sp>
        <p:nvSpPr>
          <p:cNvPr id="13" name="Text 11"/>
          <p:cNvSpPr/>
          <p:nvPr/>
        </p:nvSpPr>
        <p:spPr>
          <a:xfrm>
            <a:off x="8229600" y="270205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the time of tuned AIMD across 100 random held-out paths; faster on 89</a:t>
            </a:r>
            <a:endParaRPr lang="en-US" sz="1500" dirty="0"/>
          </a:p>
        </p:txBody>
      </p:sp>
      <p:sp>
        <p:nvSpPr>
          <p:cNvPr id="14" name="Shape 12"/>
          <p:cNvSpPr/>
          <p:nvPr/>
        </p:nvSpPr>
        <p:spPr>
          <a:xfrm>
            <a:off x="548640" y="3749040"/>
            <a:ext cx="3566160" cy="1920240"/>
          </a:xfrm>
          <a:prstGeom prst="rect">
            <a:avLst/>
          </a:prstGeom>
          <a:solidFill>
            <a:srgbClr val="121B2F"/>
          </a:solidFill>
          <a:ln w="12700">
            <a:solidFill>
              <a:srgbClr val="24324D"/>
            </a:solidFill>
            <a:prstDash val="solid"/>
          </a:ln>
        </p:spPr>
      </p:sp>
      <p:sp>
        <p:nvSpPr>
          <p:cNvPr id="15" name="Text 13"/>
          <p:cNvSpPr/>
          <p:nvPr/>
        </p:nvSpPr>
        <p:spPr>
          <a:xfrm>
            <a:off x="731520" y="3886200"/>
            <a:ext cx="3200400" cy="960120"/>
          </a:xfrm>
          <a:prstGeom prst="rect">
            <a:avLst/>
          </a:prstGeom>
          <a:noFill/>
          <a:ln/>
        </p:spPr>
        <p:txBody>
          <a:bodyPr wrap="square" lIns="0" tIns="0" rIns="0" bIns="0" rtlCol="0" anchor="ctr"/>
          <a:lstStyle/>
          <a:p>
            <a:pPr indent="0" marL="0">
              <a:buNone/>
            </a:pPr>
            <a:r>
              <a:rPr lang="en-US" sz="4000" b="1" dirty="0">
                <a:solidFill>
                  <a:srgbClr val="2DD4BF"/>
                </a:solidFill>
                <a:latin typeface="Calibri" pitchFamily="34" charset="0"/>
                <a:ea typeface="Calibri" pitchFamily="34" charset="-122"/>
                <a:cs typeface="Calibri" pitchFamily="34" charset="-120"/>
              </a:rPr>
              <a:t>4 of 4</a:t>
            </a:r>
            <a:endParaRPr lang="en-US" sz="4000" dirty="0"/>
          </a:p>
        </p:txBody>
      </p:sp>
      <p:sp>
        <p:nvSpPr>
          <p:cNvPr id="16" name="Text 14"/>
          <p:cNvSpPr/>
          <p:nvPr/>
        </p:nvSpPr>
        <p:spPr>
          <a:xfrm>
            <a:off x="731520" y="480517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paths that change mid-transfer: neural agent fastest in every case</a:t>
            </a:r>
            <a:endParaRPr lang="en-US" sz="1500" dirty="0"/>
          </a:p>
        </p:txBody>
      </p:sp>
      <p:sp>
        <p:nvSpPr>
          <p:cNvPr id="17" name="Shape 15"/>
          <p:cNvSpPr/>
          <p:nvPr/>
        </p:nvSpPr>
        <p:spPr>
          <a:xfrm>
            <a:off x="4297680" y="3749040"/>
            <a:ext cx="3566160" cy="1920240"/>
          </a:xfrm>
          <a:prstGeom prst="rect">
            <a:avLst/>
          </a:prstGeom>
          <a:solidFill>
            <a:srgbClr val="121B2F"/>
          </a:solidFill>
          <a:ln w="12700">
            <a:solidFill>
              <a:srgbClr val="24324D"/>
            </a:solidFill>
            <a:prstDash val="solid"/>
          </a:ln>
        </p:spPr>
      </p:sp>
      <p:sp>
        <p:nvSpPr>
          <p:cNvPr id="18" name="Text 16"/>
          <p:cNvSpPr/>
          <p:nvPr/>
        </p:nvSpPr>
        <p:spPr>
          <a:xfrm>
            <a:off x="4480560" y="3886200"/>
            <a:ext cx="3200400" cy="960120"/>
          </a:xfrm>
          <a:prstGeom prst="rect">
            <a:avLst/>
          </a:prstGeom>
          <a:noFill/>
          <a:ln/>
        </p:spPr>
        <p:txBody>
          <a:bodyPr wrap="square" lIns="0" tIns="0" rIns="0" bIns="0" rtlCol="0" anchor="ctr"/>
          <a:lstStyle/>
          <a:p>
            <a:pPr indent="0" marL="0">
              <a:buNone/>
            </a:pPr>
            <a:r>
              <a:rPr lang="en-US" sz="4000" b="1" dirty="0">
                <a:solidFill>
                  <a:srgbClr val="FBBF24"/>
                </a:solidFill>
                <a:latin typeface="Calibri" pitchFamily="34" charset="0"/>
                <a:ea typeface="Calibri" pitchFamily="34" charset="-122"/>
                <a:cs typeface="Calibri" pitchFamily="34" charset="-120"/>
              </a:rPr>
              <a:t>0.84 vs 0.64</a:t>
            </a:r>
            <a:endParaRPr lang="en-US" sz="4000" dirty="0"/>
          </a:p>
        </p:txBody>
      </p:sp>
      <p:sp>
        <p:nvSpPr>
          <p:cNvPr id="19" name="Text 17"/>
          <p:cNvSpPr/>
          <p:nvPr/>
        </p:nvSpPr>
        <p:spPr>
          <a:xfrm>
            <a:off x="4480560" y="480517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Jain fairness with unequal RTTs, neural against AIMD</a:t>
            </a:r>
            <a:endParaRPr lang="en-US" sz="1500" dirty="0"/>
          </a:p>
        </p:txBody>
      </p:sp>
      <p:sp>
        <p:nvSpPr>
          <p:cNvPr id="20" name="Shape 18"/>
          <p:cNvSpPr/>
          <p:nvPr/>
        </p:nvSpPr>
        <p:spPr>
          <a:xfrm>
            <a:off x="8046720" y="3749040"/>
            <a:ext cx="3566160" cy="1920240"/>
          </a:xfrm>
          <a:prstGeom prst="rect">
            <a:avLst/>
          </a:prstGeom>
          <a:solidFill>
            <a:srgbClr val="121B2F"/>
          </a:solidFill>
          <a:ln w="12700">
            <a:solidFill>
              <a:srgbClr val="24324D"/>
            </a:solidFill>
            <a:prstDash val="solid"/>
          </a:ln>
        </p:spPr>
      </p:sp>
      <p:sp>
        <p:nvSpPr>
          <p:cNvPr id="21" name="Text 19"/>
          <p:cNvSpPr/>
          <p:nvPr/>
        </p:nvSpPr>
        <p:spPr>
          <a:xfrm>
            <a:off x="8229600" y="3886200"/>
            <a:ext cx="3200400" cy="960120"/>
          </a:xfrm>
          <a:prstGeom prst="rect">
            <a:avLst/>
          </a:prstGeom>
          <a:noFill/>
          <a:ln/>
        </p:spPr>
        <p:txBody>
          <a:bodyPr wrap="square" lIns="0" tIns="0" rIns="0" bIns="0" rtlCol="0" anchor="ctr"/>
          <a:lstStyle/>
          <a:p>
            <a:pPr indent="0" marL="0">
              <a:buNone/>
            </a:pPr>
            <a:r>
              <a:rPr lang="en-US" sz="4000" b="1" dirty="0">
                <a:solidFill>
                  <a:srgbClr val="FBBF24"/>
                </a:solidFill>
                <a:latin typeface="Calibri" pitchFamily="34" charset="0"/>
                <a:ea typeface="Calibri" pitchFamily="34" charset="-122"/>
                <a:cs typeface="Calibri" pitchFamily="34" charset="-120"/>
              </a:rPr>
              <a:t>24% to 34%</a:t>
            </a:r>
            <a:endParaRPr lang="en-US" sz="4000" dirty="0"/>
          </a:p>
        </p:txBody>
      </p:sp>
      <p:sp>
        <p:nvSpPr>
          <p:cNvPr id="22" name="Text 20"/>
          <p:cNvSpPr/>
          <p:nvPr/>
        </p:nvSpPr>
        <p:spPr>
          <a:xfrm>
            <a:off x="8229600" y="480517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link share next to a kernel TCP flow: it does not starve TCP</a:t>
            </a:r>
            <a:endParaRPr lang="en-US" sz="1500" dirty="0"/>
          </a:p>
        </p:txBody>
      </p:sp>
      <p:sp>
        <p:nvSpPr>
          <p:cNvPr id="23" name="Text 21"/>
          <p:cNvSpPr/>
          <p:nvPr/>
        </p:nvSpPr>
        <p:spPr>
          <a:xfrm>
            <a:off x="548640" y="580644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The same trained network is used in every test, with no retuning. Opponents are tuned AIMD and tuned CUBIC, not weak baselines.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Up to 83% less time than tuned AIMD</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5 / 26</a:t>
            </a:r>
            <a:endParaRPr lang="en-US" sz="1000" dirty="0"/>
          </a:p>
        </p:txBody>
      </p:sp>
      <p:graphicFrame>
        <p:nvGraphicFramePr>
          <p:cNvPr id="5" name="Chart 0" descr=""/>
          <p:cNvGraphicFramePr/>
          <p:nvPr/>
        </p:nvGraphicFramePr>
        <p:xfrm>
          <a:off x="548640" y="1554480"/>
          <a:ext cx="7589520" cy="4572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412480" y="1828800"/>
            <a:ext cx="3291840" cy="393192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Same trained network on every path</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Real clock: 10 paired runs per path, 95% intervals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Kernel: 3 to 5 runs per cell, all three significant</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Also 52% on the fast path, and 0.53x on 100 random paths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Compared with every alternative we built or measured</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6 / 26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834640"/>
                <a:gridCol w="2743200"/>
                <a:gridCol w="5486400"/>
              </a:tblGrid>
              <a:tr h="530352">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Alternative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Where measured</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Neural agent result</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Tuned AIMD</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Real clock; real kernel</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15% to 52% less time (real clock); 65% to 83% (kernel)</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AIMD, window 32</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Real clock; 2 MB file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Faster on every path; 2 MB lossy file 11.9 s vs 26.6 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CUBIC (tuned)</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Real clock, 10 paired runs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Faster on lossy (-74%) and satellite (-34%); equal on 5G and fast</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BBR-style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Virtual time, 20 seeds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Wins satellite and fast; level on 5G; BBR-style wins lossy</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Q-table agent</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C transport, 15 runs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Table agent slower than AIMD on 5G and satellite; neural wins all three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Plain UDP</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48 simulated paths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Plain UDP delivered 68% of packets; Poise delivers all</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Kernel TCP (what FTP and SCP run on)</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Real Linux kernel, netem</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TCP is 1.5x to 1.7x faster than the neural agent, which is 3x to 6x faster than Poise with AIMD</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bl>
          </a:graphicData>
        </a:graphic>
      </p:graphicFrame>
      <p:sp>
        <p:nvSpPr>
          <p:cNvPr id="6" name="Text 3"/>
          <p:cNvSpPr/>
          <p:nvPr/>
        </p:nvSpPr>
        <p:spPr>
          <a:xfrm>
            <a:off x="548640" y="594360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FTP and SCP run on kernel TCP, so the kernel TCP row is the comparison; we did not run an FTP client itself.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Real clock: fastest on four of five paths against tuned baselines</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7 / 26</a:t>
            </a:r>
            <a:endParaRPr lang="en-US" sz="1000" dirty="0"/>
          </a:p>
        </p:txBody>
      </p:sp>
      <p:graphicFrame>
        <p:nvGraphicFramePr>
          <p:cNvPr id="5" name="Chart 0" descr=""/>
          <p:cNvGraphicFramePr/>
          <p:nvPr/>
        </p:nvGraphicFramePr>
        <p:xfrm>
          <a:off x="548640" y="1554480"/>
          <a:ext cx="7863840" cy="46634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686800" y="1737360"/>
            <a:ext cx="3108960" cy="4389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Neural agent fastest on 4 of 5 paths, significantly faster than tuned AIMD on all four</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Faster than tuned CUBIC on lossy (-74%) and satellite (-34%)</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Hostile 10% loss: no significant difference between any two policies</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Real clock, real server process; 10 paired runs per path (hostile: 5), 95% intervals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Why it wins: it rides a higher window and backs off only on loss</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8 / 26</a:t>
            </a:r>
            <a:endParaRPr lang="en-US" sz="1000" dirty="0"/>
          </a:p>
        </p:txBody>
      </p:sp>
      <p:pic>
        <p:nvPicPr>
          <p:cNvPr id="5" name="Image 0" descr="fig_cwnd_agent.png">    </p:cNvPr>
          <p:cNvPicPr>
            <a:picLocks noChangeAspect="1"/>
          </p:cNvPicPr>
          <p:nvPr/>
        </p:nvPicPr>
        <p:blipFill>
          <a:blip r:embed="rId1"/>
          <a:stretch>
            <a:fillRect/>
          </a:stretch>
        </p:blipFill>
        <p:spPr>
          <a:xfrm>
            <a:off x="548640" y="1645920"/>
            <a:ext cx="7680960" cy="3264408"/>
          </a:xfrm>
          <a:prstGeom prst="rect">
            <a:avLst/>
          </a:prstGeom>
        </p:spPr>
      </p:pic>
      <p:sp>
        <p:nvSpPr>
          <p:cNvPr id="6" name="Text 3"/>
          <p:cNvSpPr/>
          <p:nvPr/>
        </p:nvSpPr>
        <p:spPr>
          <a:xfrm>
            <a:off x="8503920" y="1828800"/>
            <a:ext cx="3291840" cy="38404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Same lossy path, same seed, same transport</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AIMD (grey) saws between 5 and 15 packets and needs 9 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The agent (green) holds a much larger window, backs off on loss, and finishes in 4 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On the real Linux kernel: 2.5x to 6x faster than AIMD, within 1.5x to 1.7x of TCP</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9 / 26</a:t>
            </a:r>
            <a:endParaRPr lang="en-US" sz="1000" dirty="0"/>
          </a:p>
        </p:txBody>
      </p:sp>
      <p:graphicFrame>
        <p:nvGraphicFramePr>
          <p:cNvPr id="5" name="Chart 0" descr=""/>
          <p:cNvGraphicFramePr/>
          <p:nvPr/>
        </p:nvGraphicFramePr>
        <p:xfrm>
          <a:off x="548640" y="164592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321040" y="1737360"/>
            <a:ext cx="3474720" cy="4389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Linux tc/netem on loopback, 5 runs per cell (satellite 3)</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Neural agent beats tuned AIMD by 65% to 83%; significant on three paths, reordering not</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Kernel TCP is faster than any user-space Poise policy, as expected</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Next to a kernel TCP flow our agent takes 24% to 34% of the link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When the path changes mid-transfer, the neural agent is fastest every time</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10 / 26</a:t>
            </a:r>
            <a:endParaRPr lang="en-US" sz="1000" dirty="0"/>
          </a:p>
        </p:txBody>
      </p:sp>
      <p:graphicFrame>
        <p:nvGraphicFramePr>
          <p:cNvPr id="5" name="Chart 0" descr=""/>
          <p:cNvGraphicFramePr/>
          <p:nvPr/>
        </p:nvGraphicFramePr>
        <p:xfrm>
          <a:off x="548640" y="164592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321040" y="1737360"/>
            <a:ext cx="3474720" cy="4389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4 of 4 changing-path cases: neural fastest</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Cost: 1% to 6% retransmissions</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The BBR-style baseline beats tuned AIMD on 4 of 5 named paths, so this is a strong opponent</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Simplified BBR in virtual time; not the Linux BBR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Fair between neural flows, and it does not starve kernel TCP</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11 / 26</a:t>
            </a:r>
            <a:endParaRPr lang="en-US" sz="1000" dirty="0"/>
          </a:p>
        </p:txBody>
      </p:sp>
      <p:graphicFrame>
        <p:nvGraphicFramePr>
          <p:cNvPr id="5" name="Chart 0" descr=""/>
          <p:cNvGraphicFramePr/>
          <p:nvPr/>
        </p:nvGraphicFramePr>
        <p:xfrm>
          <a:off x="548640" y="1645920"/>
          <a:ext cx="51206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0" y="1737360"/>
          <a:ext cx="5760720" cy="914400"/>
        </p:xfrm>
        <a:graphic>
          <a:graphicData uri="http://schemas.openxmlformats.org/drawingml/2006/table">
            <a:tbl>
              <a:tblPr/>
              <a:tblGrid>
                <a:gridCol w="1920240"/>
                <a:gridCol w="1097280"/>
                <a:gridCol w="1737360"/>
                <a:gridCol w="1005840"/>
              </a:tblGrid>
              <a:tr h="457200">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Two identical flows</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Extra RTT</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Share short-RTT</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Jain</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AIMD / AIMD</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150 ms</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88%</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 neural</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150 ms</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0.84</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bl>
          </a:graphicData>
        </a:graphic>
      </p:graphicFrame>
      <p:sp>
        <p:nvSpPr>
          <p:cNvPr id="7" name="Text 3"/>
          <p:cNvSpPr/>
          <p:nvPr/>
        </p:nvSpPr>
        <p:spPr>
          <a:xfrm>
            <a:off x="5943600" y="3383280"/>
            <a:ext cx="5760720" cy="27432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TCP keeps the rest of the link in every case</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Neural flows are fairer than AIMD under unequal RTTs; the short-RTT flow still wins more</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Coexistence: 3 runs per cell on one laptop, so shares are good to about ten points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It works between two real machines over the internet</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12 / 26</a:t>
            </a:r>
            <a:endParaRPr lang="en-US" sz="1000" dirty="0"/>
          </a:p>
        </p:txBody>
      </p:sp>
      <p:graphicFrame>
        <p:nvGraphicFramePr>
          <p:cNvPr id="5" name="Chart 0" descr=""/>
          <p:cNvGraphicFramePr/>
          <p:nvPr/>
        </p:nvGraphicFramePr>
        <p:xfrm>
          <a:off x="548640" y="1645920"/>
          <a:ext cx="566928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583680" y="1737360"/>
            <a:ext cx="5120640" cy="42976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Two laptops on different networks, Tailscale relay, about 79 ms round trip; 2 MB per transfer, 5 repetitions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Every completed Poise transfer delivered 4,000 of 4,000 packets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Rep 1: neural 4.7 s, BBR-style 6.4 s, AIMD 14.2 s, kernel TCP 2.5 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The relayed path drifted (TCP alone took 2 s to 51 s) and 4 of 20 runs timed out, so no ranking is claimed from reps 3 to 5</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Poise Drop: race the policies on any file</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13 / 26</a:t>
            </a:r>
            <a:endParaRPr lang="en-US" sz="1000" dirty="0"/>
          </a:p>
        </p:txBody>
      </p:sp>
      <p:pic>
        <p:nvPicPr>
          <p:cNvPr id="5" name="Image 0" descr="drop_race.png">    </p:cNvPr>
          <p:cNvPicPr>
            <a:picLocks noChangeAspect="1"/>
          </p:cNvPicPr>
          <p:nvPr/>
        </p:nvPicPr>
        <p:blipFill>
          <a:blip r:embed="rId1"/>
          <a:stretch>
            <a:fillRect/>
          </a:stretch>
        </p:blipFill>
        <p:spPr>
          <a:xfrm>
            <a:off x="548640" y="1554480"/>
            <a:ext cx="3131069" cy="4572000"/>
          </a:xfrm>
          <a:prstGeom prst="rect">
            <a:avLst/>
          </a:prstGeom>
        </p:spPr>
      </p:pic>
      <p:sp>
        <p:nvSpPr>
          <p:cNvPr id="6" name="Text 3"/>
          <p:cNvSpPr/>
          <p:nvPr/>
        </p:nvSpPr>
        <p:spPr>
          <a:xfrm>
            <a:off x="4297680" y="1828800"/>
            <a:ext cx="7406640" cy="39319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Drop in any file (up to 12 MB), pick a network, race AIMD 32, tuned AIMD and the neural agent</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Example, 2 MB on lossy Wi-Fi: neural 13.0 s, AIMD 26.7 s, tuned AIMD 29.5 s (one run each)</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Each received copy is checked byte for byte (SHA-256) and can be downloaded</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Real C stack: libpoise sender, bin/server and the bin/impair proxy; make drop starts it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Poise Chat: two people, two machines, over the internet</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14 / 26</a:t>
            </a:r>
            <a:endParaRPr lang="en-US" sz="1000" dirty="0"/>
          </a:p>
        </p:txBody>
      </p:sp>
      <p:pic>
        <p:nvPicPr>
          <p:cNvPr id="5" name="Image 0" descr="web_chat.png">    </p:cNvPr>
          <p:cNvPicPr>
            <a:picLocks noChangeAspect="1"/>
          </p:cNvPicPr>
          <p:nvPr/>
        </p:nvPicPr>
        <p:blipFill>
          <a:blip r:embed="rId1"/>
          <a:stretch>
            <a:fillRect/>
          </a:stretch>
        </p:blipFill>
        <p:spPr>
          <a:xfrm>
            <a:off x="548640" y="1554480"/>
            <a:ext cx="6766560" cy="4182964"/>
          </a:xfrm>
          <a:prstGeom prst="rect">
            <a:avLst/>
          </a:prstGeom>
        </p:spPr>
      </p:pic>
      <p:sp>
        <p:nvSpPr>
          <p:cNvPr id="6" name="Text 3"/>
          <p:cNvSpPr/>
          <p:nvPr/>
        </p:nvSpPr>
        <p:spPr>
          <a:xfrm>
            <a:off x="7589520" y="1737360"/>
            <a:ext cx="4114800" cy="42062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Every message is a Poise segment; ACKs and retransmissions are visible in the live counters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Two machines linked over Tailscale; works across the internet</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Window controller switch: fixed window, AIMD or Smart-Poise</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Loss slider shows the protocol recovering in real time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Network design in Packet Tracer: OSPF, VLANs, ACL and failover</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15 / 26</a:t>
            </a:r>
            <a:endParaRPr lang="en-US" sz="1000" dirty="0"/>
          </a:p>
        </p:txBody>
      </p:sp>
      <p:pic>
        <p:nvPicPr>
          <p:cNvPr id="5" name="Image 0" descr="topology_final.png">    </p:cNvPr>
          <p:cNvPicPr>
            <a:picLocks noChangeAspect="1"/>
          </p:cNvPicPr>
          <p:nvPr/>
        </p:nvPicPr>
        <p:blipFill>
          <a:blip r:embed="rId1"/>
          <a:stretch>
            <a:fillRect/>
          </a:stretch>
        </p:blipFill>
        <p:spPr>
          <a:xfrm>
            <a:off x="548640" y="1554480"/>
            <a:ext cx="6400800" cy="3445017"/>
          </a:xfrm>
          <a:prstGeom prst="rect">
            <a:avLst/>
          </a:prstGeom>
        </p:spPr>
      </p:pic>
      <p:sp>
        <p:nvSpPr>
          <p:cNvPr id="6" name="Text 3"/>
          <p:cNvSpPr/>
          <p:nvPr/>
        </p:nvSpPr>
        <p:spPr>
          <a:xfrm>
            <a:off x="7223760" y="1737360"/>
            <a:ext cx="4480560" cy="42062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4 routers, OSPF area 0; 2 VLANs with router-on-a-stick and DHCP</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Student PCs are blocked from staff VLAN 20 by an ACL</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Failover: shutting R1 Gi0/2 reroutes through R2; 70 of 71 pings still succeed</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Packet Tracer cannot run C programs, so protocol and network are validated separately</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Wireshark: a custom dissector decodes Poise</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16 / 26</a:t>
            </a:r>
            <a:endParaRPr lang="en-US" sz="1000" dirty="0"/>
          </a:p>
        </p:txBody>
      </p:sp>
      <p:pic>
        <p:nvPicPr>
          <p:cNvPr id="5" name="Image 0" descr="ws_handshake.png">    </p:cNvPr>
          <p:cNvPicPr>
            <a:picLocks noChangeAspect="1"/>
          </p:cNvPicPr>
          <p:nvPr/>
        </p:nvPicPr>
        <p:blipFill>
          <a:blip r:embed="rId1"/>
          <a:stretch>
            <a:fillRect/>
          </a:stretch>
        </p:blipFill>
        <p:spPr>
          <a:xfrm>
            <a:off x="548640" y="1554480"/>
            <a:ext cx="3566160" cy="4138091"/>
          </a:xfrm>
          <a:prstGeom prst="rect">
            <a:avLst/>
          </a:prstGeom>
        </p:spPr>
      </p:pic>
      <p:pic>
        <p:nvPicPr>
          <p:cNvPr id="6" name="Image 1" descr="ws_retx.png">    </p:cNvPr>
          <p:cNvPicPr>
            <a:picLocks noChangeAspect="1"/>
          </p:cNvPicPr>
          <p:nvPr/>
        </p:nvPicPr>
        <p:blipFill>
          <a:blip r:embed="rId2"/>
          <a:stretch>
            <a:fillRect/>
          </a:stretch>
        </p:blipFill>
        <p:spPr>
          <a:xfrm>
            <a:off x="4389120" y="1554480"/>
            <a:ext cx="7315200" cy="3611880"/>
          </a:xfrm>
          <a:prstGeom prst="rect">
            <a:avLst/>
          </a:prstGeom>
        </p:spPr>
      </p:pic>
      <p:sp>
        <p:nvSpPr>
          <p:cNvPr id="7" name="Text 3"/>
          <p:cNvSpPr/>
          <p:nvPr/>
        </p:nvSpPr>
        <p:spPr>
          <a:xfrm>
            <a:off x="548640" y="589788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Dissector network/poise.lua decodes seq, ack, flags and CRC. Left: the 3-way handshake. Right: filtering one sequence number shows its retransmissions.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Poise: a 13-byte header, a three-way handshake and a CRC on every packet</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17 / 26</a:t>
            </a:r>
            <a:endParaRPr lang="en-US" sz="1000" dirty="0"/>
          </a:p>
        </p:txBody>
      </p:sp>
      <p:sp>
        <p:nvSpPr>
          <p:cNvPr id="5" name="Shape 3"/>
          <p:cNvSpPr/>
          <p:nvPr/>
        </p:nvSpPr>
        <p:spPr>
          <a:xfrm>
            <a:off x="548640" y="1691640"/>
            <a:ext cx="1828800" cy="822960"/>
          </a:xfrm>
          <a:prstGeom prst="rect">
            <a:avLst/>
          </a:prstGeom>
          <a:solidFill>
            <a:srgbClr val="2DD4BF"/>
          </a:solidFill>
          <a:ln w="25400">
            <a:solidFill>
              <a:srgbClr val="0A1020"/>
            </a:solidFill>
            <a:prstDash val="solid"/>
          </a:ln>
        </p:spPr>
      </p:sp>
      <p:sp>
        <p:nvSpPr>
          <p:cNvPr id="6" name="Text 4"/>
          <p:cNvSpPr/>
          <p:nvPr/>
        </p:nvSpPr>
        <p:spPr>
          <a:xfrm>
            <a:off x="548640" y="1691640"/>
            <a:ext cx="182880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seq</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4 B</a:t>
            </a:r>
            <a:endParaRPr lang="en-US" sz="1400" dirty="0"/>
          </a:p>
        </p:txBody>
      </p:sp>
      <p:sp>
        <p:nvSpPr>
          <p:cNvPr id="7" name="Shape 5"/>
          <p:cNvSpPr/>
          <p:nvPr/>
        </p:nvSpPr>
        <p:spPr>
          <a:xfrm>
            <a:off x="2377440" y="1691640"/>
            <a:ext cx="1828800" cy="822960"/>
          </a:xfrm>
          <a:prstGeom prst="rect">
            <a:avLst/>
          </a:prstGeom>
          <a:solidFill>
            <a:srgbClr val="60A5FA"/>
          </a:solidFill>
          <a:ln w="25400">
            <a:solidFill>
              <a:srgbClr val="0A1020"/>
            </a:solidFill>
            <a:prstDash val="solid"/>
          </a:ln>
        </p:spPr>
      </p:sp>
      <p:sp>
        <p:nvSpPr>
          <p:cNvPr id="8" name="Text 6"/>
          <p:cNvSpPr/>
          <p:nvPr/>
        </p:nvSpPr>
        <p:spPr>
          <a:xfrm>
            <a:off x="2377440" y="1691640"/>
            <a:ext cx="182880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ack</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4 B</a:t>
            </a:r>
            <a:endParaRPr lang="en-US" sz="1400" dirty="0"/>
          </a:p>
        </p:txBody>
      </p:sp>
      <p:sp>
        <p:nvSpPr>
          <p:cNvPr id="9" name="Shape 7"/>
          <p:cNvSpPr/>
          <p:nvPr/>
        </p:nvSpPr>
        <p:spPr>
          <a:xfrm>
            <a:off x="4206240" y="1691640"/>
            <a:ext cx="1097280" cy="822960"/>
          </a:xfrm>
          <a:prstGeom prst="rect">
            <a:avLst/>
          </a:prstGeom>
          <a:solidFill>
            <a:srgbClr val="FBBF24"/>
          </a:solidFill>
          <a:ln w="25400">
            <a:solidFill>
              <a:srgbClr val="0A1020"/>
            </a:solidFill>
            <a:prstDash val="solid"/>
          </a:ln>
        </p:spPr>
      </p:sp>
      <p:sp>
        <p:nvSpPr>
          <p:cNvPr id="10" name="Text 8"/>
          <p:cNvSpPr/>
          <p:nvPr/>
        </p:nvSpPr>
        <p:spPr>
          <a:xfrm>
            <a:off x="4206240" y="1691640"/>
            <a:ext cx="109728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flags</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1 B</a:t>
            </a:r>
            <a:endParaRPr lang="en-US" sz="1400" dirty="0"/>
          </a:p>
        </p:txBody>
      </p:sp>
      <p:sp>
        <p:nvSpPr>
          <p:cNvPr id="11" name="Shape 9"/>
          <p:cNvSpPr/>
          <p:nvPr/>
        </p:nvSpPr>
        <p:spPr>
          <a:xfrm>
            <a:off x="5303520" y="1691640"/>
            <a:ext cx="1371600" cy="822960"/>
          </a:xfrm>
          <a:prstGeom prst="rect">
            <a:avLst/>
          </a:prstGeom>
          <a:solidFill>
            <a:srgbClr val="F87171"/>
          </a:solidFill>
          <a:ln w="25400">
            <a:solidFill>
              <a:srgbClr val="0A1020"/>
            </a:solidFill>
            <a:prstDash val="solid"/>
          </a:ln>
        </p:spPr>
      </p:sp>
      <p:sp>
        <p:nvSpPr>
          <p:cNvPr id="12" name="Text 10"/>
          <p:cNvSpPr/>
          <p:nvPr/>
        </p:nvSpPr>
        <p:spPr>
          <a:xfrm>
            <a:off x="5303520" y="1691640"/>
            <a:ext cx="137160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crc</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2 B</a:t>
            </a:r>
            <a:endParaRPr lang="en-US" sz="1400" dirty="0"/>
          </a:p>
        </p:txBody>
      </p:sp>
      <p:sp>
        <p:nvSpPr>
          <p:cNvPr id="13" name="Shape 11"/>
          <p:cNvSpPr/>
          <p:nvPr/>
        </p:nvSpPr>
        <p:spPr>
          <a:xfrm>
            <a:off x="6675120" y="1691640"/>
            <a:ext cx="1371600" cy="822960"/>
          </a:xfrm>
          <a:prstGeom prst="rect">
            <a:avLst/>
          </a:prstGeom>
          <a:solidFill>
            <a:srgbClr val="A78BFA"/>
          </a:solidFill>
          <a:ln w="25400">
            <a:solidFill>
              <a:srgbClr val="0A1020"/>
            </a:solidFill>
            <a:prstDash val="solid"/>
          </a:ln>
        </p:spPr>
      </p:sp>
      <p:sp>
        <p:nvSpPr>
          <p:cNvPr id="14" name="Text 12"/>
          <p:cNvSpPr/>
          <p:nvPr/>
        </p:nvSpPr>
        <p:spPr>
          <a:xfrm>
            <a:off x="6675120" y="1691640"/>
            <a:ext cx="137160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len</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2 B</a:t>
            </a:r>
            <a:endParaRPr lang="en-US" sz="1400" dirty="0"/>
          </a:p>
        </p:txBody>
      </p:sp>
      <p:sp>
        <p:nvSpPr>
          <p:cNvPr id="15" name="Shape 13"/>
          <p:cNvSpPr/>
          <p:nvPr/>
        </p:nvSpPr>
        <p:spPr>
          <a:xfrm>
            <a:off x="8046720" y="1691640"/>
            <a:ext cx="3566160" cy="822960"/>
          </a:xfrm>
          <a:prstGeom prst="rect">
            <a:avLst/>
          </a:prstGeom>
          <a:solidFill>
            <a:srgbClr val="64748B"/>
          </a:solidFill>
          <a:ln w="25400">
            <a:solidFill>
              <a:srgbClr val="0A1020"/>
            </a:solidFill>
            <a:prstDash val="solid"/>
          </a:ln>
        </p:spPr>
      </p:sp>
      <p:sp>
        <p:nvSpPr>
          <p:cNvPr id="16" name="Text 14"/>
          <p:cNvSpPr/>
          <p:nvPr/>
        </p:nvSpPr>
        <p:spPr>
          <a:xfrm>
            <a:off x="8046720" y="1691640"/>
            <a:ext cx="356616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payload up to 512 B</a:t>
            </a:r>
            <a:endParaRPr lang="en-US" sz="1400" dirty="0"/>
          </a:p>
        </p:txBody>
      </p:sp>
      <p:sp>
        <p:nvSpPr>
          <p:cNvPr id="17" name="Shape 15"/>
          <p:cNvSpPr/>
          <p:nvPr/>
        </p:nvSpPr>
        <p:spPr>
          <a:xfrm>
            <a:off x="548640" y="2880360"/>
            <a:ext cx="11064240" cy="493776"/>
          </a:xfrm>
          <a:prstGeom prst="rect">
            <a:avLst/>
          </a:prstGeom>
          <a:solidFill>
            <a:srgbClr val="121B2F"/>
          </a:solidFill>
          <a:ln w="12700">
            <a:solidFill>
              <a:srgbClr val="24324D"/>
            </a:solidFill>
            <a:prstDash val="solid"/>
          </a:ln>
        </p:spPr>
      </p:sp>
      <p:sp>
        <p:nvSpPr>
          <p:cNvPr id="18" name="Text 16"/>
          <p:cNvSpPr/>
          <p:nvPr/>
        </p:nvSpPr>
        <p:spPr>
          <a:xfrm>
            <a:off x="731520" y="2880360"/>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SYN</a:t>
            </a:r>
            <a:endParaRPr lang="en-US" sz="1600" dirty="0"/>
          </a:p>
        </p:txBody>
      </p:sp>
      <p:sp>
        <p:nvSpPr>
          <p:cNvPr id="19" name="Text 17"/>
          <p:cNvSpPr/>
          <p:nvPr/>
        </p:nvSpPr>
        <p:spPr>
          <a:xfrm>
            <a:off x="2834640" y="2880360"/>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Client to server</a:t>
            </a:r>
            <a:endParaRPr lang="en-US" sz="1500" dirty="0"/>
          </a:p>
        </p:txBody>
      </p:sp>
      <p:sp>
        <p:nvSpPr>
          <p:cNvPr id="20" name="Text 18"/>
          <p:cNvSpPr/>
          <p:nvPr/>
        </p:nvSpPr>
        <p:spPr>
          <a:xfrm>
            <a:off x="5760720" y="2880360"/>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Request a connection</a:t>
            </a:r>
            <a:endParaRPr lang="en-US" sz="1500" dirty="0"/>
          </a:p>
        </p:txBody>
      </p:sp>
      <p:sp>
        <p:nvSpPr>
          <p:cNvPr id="21" name="Shape 19"/>
          <p:cNvSpPr/>
          <p:nvPr/>
        </p:nvSpPr>
        <p:spPr>
          <a:xfrm>
            <a:off x="548640" y="3447288"/>
            <a:ext cx="11064240" cy="493776"/>
          </a:xfrm>
          <a:prstGeom prst="rect">
            <a:avLst/>
          </a:prstGeom>
          <a:solidFill>
            <a:srgbClr val="121B2F"/>
          </a:solidFill>
          <a:ln w="12700">
            <a:solidFill>
              <a:srgbClr val="24324D"/>
            </a:solidFill>
            <a:prstDash val="solid"/>
          </a:ln>
        </p:spPr>
      </p:sp>
      <p:sp>
        <p:nvSpPr>
          <p:cNvPr id="22" name="Text 20"/>
          <p:cNvSpPr/>
          <p:nvPr/>
        </p:nvSpPr>
        <p:spPr>
          <a:xfrm>
            <a:off x="731520" y="3447288"/>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SYN-ACK</a:t>
            </a:r>
            <a:endParaRPr lang="en-US" sz="1600" dirty="0"/>
          </a:p>
        </p:txBody>
      </p:sp>
      <p:sp>
        <p:nvSpPr>
          <p:cNvPr id="23" name="Text 21"/>
          <p:cNvSpPr/>
          <p:nvPr/>
        </p:nvSpPr>
        <p:spPr>
          <a:xfrm>
            <a:off x="2834640" y="3447288"/>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Server to client</a:t>
            </a:r>
            <a:endParaRPr lang="en-US" sz="1500" dirty="0"/>
          </a:p>
        </p:txBody>
      </p:sp>
      <p:sp>
        <p:nvSpPr>
          <p:cNvPr id="24" name="Text 22"/>
          <p:cNvSpPr/>
          <p:nvPr/>
        </p:nvSpPr>
        <p:spPr>
          <a:xfrm>
            <a:off x="5760720" y="3447288"/>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Server agrees</a:t>
            </a:r>
            <a:endParaRPr lang="en-US" sz="1500" dirty="0"/>
          </a:p>
        </p:txBody>
      </p:sp>
      <p:sp>
        <p:nvSpPr>
          <p:cNvPr id="25" name="Shape 23"/>
          <p:cNvSpPr/>
          <p:nvPr/>
        </p:nvSpPr>
        <p:spPr>
          <a:xfrm>
            <a:off x="548640" y="4014216"/>
            <a:ext cx="11064240" cy="493776"/>
          </a:xfrm>
          <a:prstGeom prst="rect">
            <a:avLst/>
          </a:prstGeom>
          <a:solidFill>
            <a:srgbClr val="121B2F"/>
          </a:solidFill>
          <a:ln w="12700">
            <a:solidFill>
              <a:srgbClr val="24324D"/>
            </a:solidFill>
            <a:prstDash val="solid"/>
          </a:ln>
        </p:spPr>
      </p:sp>
      <p:sp>
        <p:nvSpPr>
          <p:cNvPr id="26" name="Text 24"/>
          <p:cNvSpPr/>
          <p:nvPr/>
        </p:nvSpPr>
        <p:spPr>
          <a:xfrm>
            <a:off x="731520" y="4014216"/>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ACK</a:t>
            </a:r>
            <a:endParaRPr lang="en-US" sz="1600" dirty="0"/>
          </a:p>
        </p:txBody>
      </p:sp>
      <p:sp>
        <p:nvSpPr>
          <p:cNvPr id="27" name="Text 25"/>
          <p:cNvSpPr/>
          <p:nvPr/>
        </p:nvSpPr>
        <p:spPr>
          <a:xfrm>
            <a:off x="2834640" y="4014216"/>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Client to server</a:t>
            </a:r>
            <a:endParaRPr lang="en-US" sz="1500" dirty="0"/>
          </a:p>
        </p:txBody>
      </p:sp>
      <p:sp>
        <p:nvSpPr>
          <p:cNvPr id="28" name="Text 26"/>
          <p:cNvSpPr/>
          <p:nvPr/>
        </p:nvSpPr>
        <p:spPr>
          <a:xfrm>
            <a:off x="5760720" y="4014216"/>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Established; data flows</a:t>
            </a:r>
            <a:endParaRPr lang="en-US" sz="1500" dirty="0"/>
          </a:p>
        </p:txBody>
      </p:sp>
      <p:sp>
        <p:nvSpPr>
          <p:cNvPr id="29" name="Shape 27"/>
          <p:cNvSpPr/>
          <p:nvPr/>
        </p:nvSpPr>
        <p:spPr>
          <a:xfrm>
            <a:off x="548640" y="4581144"/>
            <a:ext cx="11064240" cy="493776"/>
          </a:xfrm>
          <a:prstGeom prst="rect">
            <a:avLst/>
          </a:prstGeom>
          <a:solidFill>
            <a:srgbClr val="121B2F"/>
          </a:solidFill>
          <a:ln w="12700">
            <a:solidFill>
              <a:srgbClr val="24324D"/>
            </a:solidFill>
            <a:prstDash val="solid"/>
          </a:ln>
        </p:spPr>
      </p:sp>
      <p:sp>
        <p:nvSpPr>
          <p:cNvPr id="30" name="Text 28"/>
          <p:cNvSpPr/>
          <p:nvPr/>
        </p:nvSpPr>
        <p:spPr>
          <a:xfrm>
            <a:off x="731520" y="4581144"/>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DATA / ACK</a:t>
            </a:r>
            <a:endParaRPr lang="en-US" sz="1600" dirty="0"/>
          </a:p>
        </p:txBody>
      </p:sp>
      <p:sp>
        <p:nvSpPr>
          <p:cNvPr id="31" name="Text 29"/>
          <p:cNvSpPr/>
          <p:nvPr/>
        </p:nvSpPr>
        <p:spPr>
          <a:xfrm>
            <a:off x="2834640" y="4581144"/>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Both ways</a:t>
            </a:r>
            <a:endParaRPr lang="en-US" sz="1500" dirty="0"/>
          </a:p>
        </p:txBody>
      </p:sp>
      <p:sp>
        <p:nvSpPr>
          <p:cNvPr id="32" name="Text 30"/>
          <p:cNvSpPr/>
          <p:nvPr/>
        </p:nvSpPr>
        <p:spPr>
          <a:xfrm>
            <a:off x="5760720" y="4581144"/>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Window of packets in flight</a:t>
            </a:r>
            <a:endParaRPr lang="en-US" sz="1500" dirty="0"/>
          </a:p>
        </p:txBody>
      </p:sp>
      <p:sp>
        <p:nvSpPr>
          <p:cNvPr id="33" name="Shape 31"/>
          <p:cNvSpPr/>
          <p:nvPr/>
        </p:nvSpPr>
        <p:spPr>
          <a:xfrm>
            <a:off x="548640" y="5148072"/>
            <a:ext cx="11064240" cy="493776"/>
          </a:xfrm>
          <a:prstGeom prst="rect">
            <a:avLst/>
          </a:prstGeom>
          <a:solidFill>
            <a:srgbClr val="121B2F"/>
          </a:solidFill>
          <a:ln w="12700">
            <a:solidFill>
              <a:srgbClr val="24324D"/>
            </a:solidFill>
            <a:prstDash val="solid"/>
          </a:ln>
        </p:spPr>
      </p:sp>
      <p:sp>
        <p:nvSpPr>
          <p:cNvPr id="34" name="Text 32"/>
          <p:cNvSpPr/>
          <p:nvPr/>
        </p:nvSpPr>
        <p:spPr>
          <a:xfrm>
            <a:off x="731520" y="5148072"/>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FIN</a:t>
            </a:r>
            <a:endParaRPr lang="en-US" sz="1600" dirty="0"/>
          </a:p>
        </p:txBody>
      </p:sp>
      <p:sp>
        <p:nvSpPr>
          <p:cNvPr id="35" name="Text 33"/>
          <p:cNvSpPr/>
          <p:nvPr/>
        </p:nvSpPr>
        <p:spPr>
          <a:xfrm>
            <a:off x="2834640" y="5148072"/>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Either</a:t>
            </a:r>
            <a:endParaRPr lang="en-US" sz="1500" dirty="0"/>
          </a:p>
        </p:txBody>
      </p:sp>
      <p:sp>
        <p:nvSpPr>
          <p:cNvPr id="36" name="Text 34"/>
          <p:cNvSpPr/>
          <p:nvPr/>
        </p:nvSpPr>
        <p:spPr>
          <a:xfrm>
            <a:off x="5760720" y="5148072"/>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Close the connection</a:t>
            </a:r>
            <a:endParaRPr lang="en-US" sz="1500" dirty="0"/>
          </a:p>
        </p:txBody>
      </p:sp>
      <p:sp>
        <p:nvSpPr>
          <p:cNvPr id="37" name="Text 35"/>
          <p:cNvSpPr/>
          <p:nvPr/>
        </p:nvSpPr>
        <p:spPr>
          <a:xfrm>
            <a:off x="548640" y="585216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Packets are numbered, acknowledged and checksummed; a corrupt packet is dropped and recovered by retransmission.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Selective Repeat: resend only what is missing</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18 / 26</a:t>
            </a:r>
            <a:endParaRPr lang="en-US" sz="1000" dirty="0"/>
          </a:p>
        </p:txBody>
      </p:sp>
      <p:sp>
        <p:nvSpPr>
          <p:cNvPr id="5" name="Text 3"/>
          <p:cNvSpPr/>
          <p:nvPr/>
        </p:nvSpPr>
        <p:spPr>
          <a:xfrm>
            <a:off x="548640" y="1737360"/>
            <a:ext cx="5669280" cy="420624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Receiver buffers out-of-order packets (256-packet window) and reports them in a 32-byte bitmap in every ACK</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Sender keeps one timer per packet; adaptive timeout with a floor of 1.3 x smoothed RTT</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About 10x fewer retransmissions than Go-Back-N</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Web chat, 200 messages: 6.4 s against 11.9 s with AIMD</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Go-Back-N kept for comparison (--gbn)</a:t>
            </a:r>
            <a:endParaRPr lang="en-US" sz="1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83680" y="1737360"/>
          <a:ext cx="5029200" cy="914400"/>
        </p:xfrm>
        <a:graphic>
          <a:graphicData uri="http://schemas.openxmlformats.org/drawingml/2006/table">
            <a:tbl>
              <a:tblPr/>
              <a:tblGrid>
                <a:gridCol w="2103120"/>
                <a:gridCol w="1005840"/>
                <a:gridCol w="1005840"/>
                <a:gridCol w="914400"/>
              </a:tblGrid>
              <a:tr h="502920">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C transport (s)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AIMD 32</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Neural</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Gain</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r>
              <a:tr h="502920">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5G-like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1.27</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1.16</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02920">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Lossy 2%</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7.99</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4.29</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46%</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02920">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Satellite-like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25.7</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12.9</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02920">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Hostile 10% loss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7.3</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8.1</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tie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bl>
          </a:graphicData>
        </a:graphic>
      </p:graphicFrame>
      <p:sp>
        <p:nvSpPr>
          <p:cNvPr id="7" name="Text 4"/>
          <p:cNvSpPr/>
          <p:nvPr/>
        </p:nvSpPr>
        <p:spPr>
          <a:xfrm>
            <a:off x="548640" y="484632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10 runs per cell, 95% intervals; all gains significant except the hostile row.</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Five congestion controllers behind one interface</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19 / 26</a:t>
            </a:r>
            <a:endParaRPr lang="en-US" sz="1000" dirty="0"/>
          </a:p>
        </p:txBody>
      </p:sp>
      <p:sp>
        <p:nvSpPr>
          <p:cNvPr id="5" name="Shape 3"/>
          <p:cNvSpPr/>
          <p:nvPr/>
        </p:nvSpPr>
        <p:spPr>
          <a:xfrm>
            <a:off x="548640" y="1691640"/>
            <a:ext cx="2103120" cy="2194560"/>
          </a:xfrm>
          <a:prstGeom prst="rect">
            <a:avLst/>
          </a:prstGeom>
          <a:solidFill>
            <a:srgbClr val="121B2F"/>
          </a:solidFill>
          <a:ln w="12700">
            <a:solidFill>
              <a:srgbClr val="94A3B8"/>
            </a:solidFill>
            <a:prstDash val="solid"/>
          </a:ln>
        </p:spPr>
      </p:sp>
      <p:sp>
        <p:nvSpPr>
          <p:cNvPr id="6" name="Text 4"/>
          <p:cNvSpPr/>
          <p:nvPr/>
        </p:nvSpPr>
        <p:spPr>
          <a:xfrm>
            <a:off x="731520" y="1801368"/>
            <a:ext cx="1737360" cy="41148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AIMD</a:t>
            </a:r>
            <a:endParaRPr lang="en-US" sz="1800" dirty="0"/>
          </a:p>
        </p:txBody>
      </p:sp>
      <p:sp>
        <p:nvSpPr>
          <p:cNvPr id="7" name="Text 5"/>
          <p:cNvSpPr/>
          <p:nvPr/>
        </p:nvSpPr>
        <p:spPr>
          <a:xfrm>
            <a:off x="73152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Add 1 per RTT, halve on loss. The TCP Reno idea.</a:t>
            </a:r>
            <a:endParaRPr lang="en-US" sz="1400" dirty="0"/>
          </a:p>
        </p:txBody>
      </p:sp>
      <p:sp>
        <p:nvSpPr>
          <p:cNvPr id="8" name="Shape 6"/>
          <p:cNvSpPr/>
          <p:nvPr/>
        </p:nvSpPr>
        <p:spPr>
          <a:xfrm>
            <a:off x="2788920" y="1691640"/>
            <a:ext cx="2103120" cy="2194560"/>
          </a:xfrm>
          <a:prstGeom prst="rect">
            <a:avLst/>
          </a:prstGeom>
          <a:solidFill>
            <a:srgbClr val="121B2F"/>
          </a:solidFill>
          <a:ln w="12700">
            <a:solidFill>
              <a:srgbClr val="94A3B8"/>
            </a:solidFill>
            <a:prstDash val="solid"/>
          </a:ln>
        </p:spPr>
      </p:sp>
      <p:sp>
        <p:nvSpPr>
          <p:cNvPr id="9" name="Text 7"/>
          <p:cNvSpPr/>
          <p:nvPr/>
        </p:nvSpPr>
        <p:spPr>
          <a:xfrm>
            <a:off x="2971800" y="1801368"/>
            <a:ext cx="1737360" cy="41148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CUBIC</a:t>
            </a:r>
            <a:endParaRPr lang="en-US" sz="1800" dirty="0"/>
          </a:p>
        </p:txBody>
      </p:sp>
      <p:sp>
        <p:nvSpPr>
          <p:cNvPr id="10" name="Text 8"/>
          <p:cNvSpPr/>
          <p:nvPr/>
        </p:nvSpPr>
        <p:spPr>
          <a:xfrm>
            <a:off x="297180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Window grows as a cubic curve after loss.</a:t>
            </a:r>
            <a:endParaRPr lang="en-US" sz="1400" dirty="0"/>
          </a:p>
        </p:txBody>
      </p:sp>
      <p:sp>
        <p:nvSpPr>
          <p:cNvPr id="11" name="Shape 9"/>
          <p:cNvSpPr/>
          <p:nvPr/>
        </p:nvSpPr>
        <p:spPr>
          <a:xfrm>
            <a:off x="5029200" y="1691640"/>
            <a:ext cx="2103120" cy="2194560"/>
          </a:xfrm>
          <a:prstGeom prst="rect">
            <a:avLst/>
          </a:prstGeom>
          <a:solidFill>
            <a:srgbClr val="121B2F"/>
          </a:solidFill>
          <a:ln w="12700">
            <a:solidFill>
              <a:srgbClr val="94A3B8"/>
            </a:solidFill>
            <a:prstDash val="solid"/>
          </a:ln>
        </p:spPr>
      </p:sp>
      <p:sp>
        <p:nvSpPr>
          <p:cNvPr id="12" name="Text 10"/>
          <p:cNvSpPr/>
          <p:nvPr/>
        </p:nvSpPr>
        <p:spPr>
          <a:xfrm>
            <a:off x="5212080" y="1801368"/>
            <a:ext cx="1737360" cy="41148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BBR-style</a:t>
            </a:r>
            <a:endParaRPr lang="en-US" sz="1800" dirty="0"/>
          </a:p>
        </p:txBody>
      </p:sp>
      <p:sp>
        <p:nvSpPr>
          <p:cNvPr id="13" name="Text 11"/>
          <p:cNvSpPr/>
          <p:nvPr/>
        </p:nvSpPr>
        <p:spPr>
          <a:xfrm>
            <a:off x="521208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Estimates bandwidth and RTT; paces at the estimate.</a:t>
            </a:r>
            <a:endParaRPr lang="en-US" sz="1400" dirty="0"/>
          </a:p>
        </p:txBody>
      </p:sp>
      <p:sp>
        <p:nvSpPr>
          <p:cNvPr id="14" name="Shape 12"/>
          <p:cNvSpPr/>
          <p:nvPr/>
        </p:nvSpPr>
        <p:spPr>
          <a:xfrm>
            <a:off x="7269480" y="1691640"/>
            <a:ext cx="2103120" cy="2194560"/>
          </a:xfrm>
          <a:prstGeom prst="rect">
            <a:avLst/>
          </a:prstGeom>
          <a:solidFill>
            <a:srgbClr val="121B2F"/>
          </a:solidFill>
          <a:ln w="12700">
            <a:solidFill>
              <a:srgbClr val="94A3B8"/>
            </a:solidFill>
            <a:prstDash val="solid"/>
          </a:ln>
        </p:spPr>
      </p:sp>
      <p:sp>
        <p:nvSpPr>
          <p:cNvPr id="15" name="Text 13"/>
          <p:cNvSpPr/>
          <p:nvPr/>
        </p:nvSpPr>
        <p:spPr>
          <a:xfrm>
            <a:off x="7452360" y="1801368"/>
            <a:ext cx="1737360" cy="41148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Q-table</a:t>
            </a:r>
            <a:endParaRPr lang="en-US" sz="1800" dirty="0"/>
          </a:p>
        </p:txBody>
      </p:sp>
      <p:sp>
        <p:nvSpPr>
          <p:cNvPr id="16" name="Text 14"/>
          <p:cNvSpPr/>
          <p:nvPr/>
        </p:nvSpPr>
        <p:spPr>
          <a:xfrm>
            <a:off x="745236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Small learned table of window actions.</a:t>
            </a:r>
            <a:endParaRPr lang="en-US" sz="1400" dirty="0"/>
          </a:p>
        </p:txBody>
      </p:sp>
      <p:sp>
        <p:nvSpPr>
          <p:cNvPr id="17" name="Shape 15"/>
          <p:cNvSpPr/>
          <p:nvPr/>
        </p:nvSpPr>
        <p:spPr>
          <a:xfrm>
            <a:off x="9509760" y="1691640"/>
            <a:ext cx="2103120" cy="2194560"/>
          </a:xfrm>
          <a:prstGeom prst="rect">
            <a:avLst/>
          </a:prstGeom>
          <a:solidFill>
            <a:srgbClr val="121B2F"/>
          </a:solidFill>
          <a:ln w="12700">
            <a:solidFill>
              <a:srgbClr val="2DD4BF"/>
            </a:solidFill>
            <a:prstDash val="solid"/>
          </a:ln>
        </p:spPr>
      </p:sp>
      <p:sp>
        <p:nvSpPr>
          <p:cNvPr id="18" name="Text 16"/>
          <p:cNvSpPr/>
          <p:nvPr/>
        </p:nvSpPr>
        <p:spPr>
          <a:xfrm>
            <a:off x="9692640" y="1801368"/>
            <a:ext cx="173736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Neural agent</a:t>
            </a:r>
            <a:endParaRPr lang="en-US" sz="1800" dirty="0"/>
          </a:p>
        </p:txBody>
      </p:sp>
      <p:sp>
        <p:nvSpPr>
          <p:cNvPr id="19" name="Text 17"/>
          <p:cNvSpPr/>
          <p:nvPr/>
        </p:nvSpPr>
        <p:spPr>
          <a:xfrm>
            <a:off x="969264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5-32-32-5 network, 1,413 weights, picks the window multiplier.</a:t>
            </a:r>
            <a:endParaRPr lang="en-US" sz="1400" dirty="0"/>
          </a:p>
        </p:txBody>
      </p:sp>
      <p:sp>
        <p:nvSpPr>
          <p:cNvPr id="20" name="Text 18"/>
          <p:cNvSpPr/>
          <p:nvPr/>
        </p:nvSpPr>
        <p:spPr>
          <a:xfrm>
            <a:off x="548640" y="4160520"/>
            <a:ext cx="11064240" cy="20116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Inputs: four measured values (RTT growth, loss, throughput share, window) plus the last action</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Five actions: multiply the window by 0.5, 0.85, 1.0, 1.15 or 1.5</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Window cap 128, slow start to 64, pacing at 2 x window / RTT</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Safety net: AIMD takes over while an interval loses 10% or more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What matters: window cap 128, pacing, slow start and the timer floor</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20 / 26</a:t>
            </a:r>
            <a:endParaRPr lang="en-US" sz="1000" dirty="0"/>
          </a:p>
        </p:txBody>
      </p:sp>
      <p:graphicFrame>
        <p:nvGraphicFramePr>
          <p:cNvPr id="5" name="Chart 0" descr=""/>
          <p:cNvGraphicFramePr/>
          <p:nvPr/>
        </p:nvGraphicFramePr>
        <p:xfrm>
          <a:off x="548640" y="164592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321040" y="1737360"/>
            <a:ext cx="3474720" cy="4389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100 random paths: neural 0.53x the time of tuned AIMD, faster on 89, never more than 20% slower</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Removing the cap 128 or using the original settings loses most of the gain</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Evolution-strategy retraining in C added only 2%: not adopted</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TESTING</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How we tested: correctness first, then four steps toward the real world</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21 / 26</a:t>
            </a:r>
            <a:endParaRPr lang="en-US" sz="1000" dirty="0"/>
          </a:p>
        </p:txBody>
      </p:sp>
      <p:sp>
        <p:nvSpPr>
          <p:cNvPr id="5" name="Shape 3"/>
          <p:cNvSpPr/>
          <p:nvPr/>
        </p:nvSpPr>
        <p:spPr>
          <a:xfrm>
            <a:off x="548640" y="1691640"/>
            <a:ext cx="2697480" cy="2651760"/>
          </a:xfrm>
          <a:prstGeom prst="rect">
            <a:avLst/>
          </a:prstGeom>
          <a:solidFill>
            <a:srgbClr val="121B2F"/>
          </a:solidFill>
          <a:ln w="12700">
            <a:solidFill>
              <a:srgbClr val="2DD4BF"/>
            </a:solidFill>
            <a:prstDash val="solid"/>
          </a:ln>
        </p:spPr>
      </p:sp>
      <p:sp>
        <p:nvSpPr>
          <p:cNvPr id="6" name="Text 4"/>
          <p:cNvSpPr/>
          <p:nvPr/>
        </p:nvSpPr>
        <p:spPr>
          <a:xfrm>
            <a:off x="731520" y="180136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1  Emulation in the client</a:t>
            </a:r>
            <a:endParaRPr lang="en-US" sz="1800" dirty="0"/>
          </a:p>
        </p:txBody>
      </p:sp>
      <p:sp>
        <p:nvSpPr>
          <p:cNvPr id="7" name="Text 5"/>
          <p:cNvSpPr/>
          <p:nvPr/>
        </p:nvSpPr>
        <p:spPr>
          <a:xfrm>
            <a:off x="731520" y="2258568"/>
            <a:ext cx="2331720" cy="19659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Fast, repeatable; also virtual time (1000x faster, matches the real clock in 15 of 15 cells)</a:t>
            </a:r>
            <a:endParaRPr lang="en-US" sz="1400" dirty="0"/>
          </a:p>
        </p:txBody>
      </p:sp>
      <p:sp>
        <p:nvSpPr>
          <p:cNvPr id="8" name="Shape 6"/>
          <p:cNvSpPr/>
          <p:nvPr/>
        </p:nvSpPr>
        <p:spPr>
          <a:xfrm>
            <a:off x="3383280" y="1691640"/>
            <a:ext cx="2697480" cy="2651760"/>
          </a:xfrm>
          <a:prstGeom prst="rect">
            <a:avLst/>
          </a:prstGeom>
          <a:solidFill>
            <a:srgbClr val="121B2F"/>
          </a:solidFill>
          <a:ln w="12700">
            <a:solidFill>
              <a:srgbClr val="2DD4BF"/>
            </a:solidFill>
            <a:prstDash val="solid"/>
          </a:ln>
        </p:spPr>
      </p:sp>
      <p:sp>
        <p:nvSpPr>
          <p:cNvPr id="9" name="Text 7"/>
          <p:cNvSpPr/>
          <p:nvPr/>
        </p:nvSpPr>
        <p:spPr>
          <a:xfrm>
            <a:off x="3566160" y="180136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2  Impairment proxy</a:t>
            </a:r>
            <a:endParaRPr lang="en-US" sz="1800" dirty="0"/>
          </a:p>
        </p:txBody>
      </p:sp>
      <p:sp>
        <p:nvSpPr>
          <p:cNvPr id="10" name="Text 8"/>
          <p:cNvSpPr/>
          <p:nvPr/>
        </p:nvSpPr>
        <p:spPr>
          <a:xfrm>
            <a:off x="3566160" y="2258568"/>
            <a:ext cx="2331720" cy="19659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Separate process on real UDP sockets adds delay, jitter, loss and a bottleneck</a:t>
            </a:r>
            <a:endParaRPr lang="en-US" sz="1400" dirty="0"/>
          </a:p>
        </p:txBody>
      </p:sp>
      <p:sp>
        <p:nvSpPr>
          <p:cNvPr id="11" name="Shape 9"/>
          <p:cNvSpPr/>
          <p:nvPr/>
        </p:nvSpPr>
        <p:spPr>
          <a:xfrm>
            <a:off x="6217920" y="1691640"/>
            <a:ext cx="2697480" cy="2651760"/>
          </a:xfrm>
          <a:prstGeom prst="rect">
            <a:avLst/>
          </a:prstGeom>
          <a:solidFill>
            <a:srgbClr val="121B2F"/>
          </a:solidFill>
          <a:ln w="12700">
            <a:solidFill>
              <a:srgbClr val="2DD4BF"/>
            </a:solidFill>
            <a:prstDash val="solid"/>
          </a:ln>
        </p:spPr>
      </p:sp>
      <p:sp>
        <p:nvSpPr>
          <p:cNvPr id="12" name="Text 10"/>
          <p:cNvSpPr/>
          <p:nvPr/>
        </p:nvSpPr>
        <p:spPr>
          <a:xfrm>
            <a:off x="6400800" y="180136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3  Linux kernel netem</a:t>
            </a:r>
            <a:endParaRPr lang="en-US" sz="1800" dirty="0"/>
          </a:p>
        </p:txBody>
      </p:sp>
      <p:sp>
        <p:nvSpPr>
          <p:cNvPr id="13" name="Text 11"/>
          <p:cNvSpPr/>
          <p:nvPr/>
        </p:nvSpPr>
        <p:spPr>
          <a:xfrm>
            <a:off x="6400800" y="2258568"/>
            <a:ext cx="2331720" cy="19659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Real kernel queues and loss on loopback, against kernel TCP</a:t>
            </a:r>
            <a:endParaRPr lang="en-US" sz="1400" dirty="0"/>
          </a:p>
        </p:txBody>
      </p:sp>
      <p:sp>
        <p:nvSpPr>
          <p:cNvPr id="14" name="Shape 12"/>
          <p:cNvSpPr/>
          <p:nvPr/>
        </p:nvSpPr>
        <p:spPr>
          <a:xfrm>
            <a:off x="9052560" y="1691640"/>
            <a:ext cx="2697480" cy="2651760"/>
          </a:xfrm>
          <a:prstGeom prst="rect">
            <a:avLst/>
          </a:prstGeom>
          <a:solidFill>
            <a:srgbClr val="121B2F"/>
          </a:solidFill>
          <a:ln w="12700">
            <a:solidFill>
              <a:srgbClr val="FBBF24"/>
            </a:solidFill>
            <a:prstDash val="solid"/>
          </a:ln>
        </p:spPr>
      </p:sp>
      <p:sp>
        <p:nvSpPr>
          <p:cNvPr id="15" name="Text 13"/>
          <p:cNvSpPr/>
          <p:nvPr/>
        </p:nvSpPr>
        <p:spPr>
          <a:xfrm>
            <a:off x="9235440" y="1801368"/>
            <a:ext cx="233172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4  Two real machines</a:t>
            </a:r>
            <a:endParaRPr lang="en-US" sz="1800" dirty="0"/>
          </a:p>
        </p:txBody>
      </p:sp>
      <p:sp>
        <p:nvSpPr>
          <p:cNvPr id="16" name="Text 14"/>
          <p:cNvSpPr/>
          <p:nvPr/>
        </p:nvSpPr>
        <p:spPr>
          <a:xfrm>
            <a:off x="9235440" y="2258568"/>
            <a:ext cx="2331720" cy="19659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Laptops on different networks over the internet</a:t>
            </a:r>
            <a:endParaRPr lang="en-US" sz="1400" dirty="0"/>
          </a:p>
        </p:txBody>
      </p:sp>
      <p:sp>
        <p:nvSpPr>
          <p:cNvPr id="17" name="Text 15"/>
          <p:cNvSpPr/>
          <p:nvPr/>
        </p:nvSpPr>
        <p:spPr>
          <a:xfrm>
            <a:off x="548640" y="4572000"/>
            <a:ext cx="11064240" cy="17373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Correctness: unit, end-to-end, handshake, file-integrity, chat and simulator tests (make test); packet parser fuzzed under AddressSanitizer and UBSan (make fuzz)</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Statistics: paired seeds, 95% intervals, tuning seeds kept apart from test seeds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Every result has the command that produced it (docs/RUNNING_ALL_TESTS.md)</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FBBF24"/>
                </a:solidFill>
                <a:latin typeface="Calibri" pitchFamily="34" charset="0"/>
                <a:ea typeface="Calibri" pitchFamily="34" charset="-122"/>
                <a:cs typeface="Calibri" pitchFamily="34" charset="-120"/>
              </a:rPr>
              <a:t>ISSUES FOUND</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What we found along the way</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22 / 26</a:t>
            </a:r>
            <a:endParaRPr lang="en-US" sz="1000" dirty="0"/>
          </a:p>
        </p:txBody>
      </p:sp>
      <p:sp>
        <p:nvSpPr>
          <p:cNvPr id="5" name="Text 3"/>
          <p:cNvSpPr/>
          <p:nvPr/>
        </p:nvSpPr>
        <p:spPr>
          <a:xfrm>
            <a:off x="548640" y="1645920"/>
            <a:ext cx="11064240" cy="4480560"/>
          </a:xfrm>
          <a:prstGeom prst="rect">
            <a:avLst/>
          </a:prstGeom>
          <a:noFill/>
          <a:ln/>
        </p:spPr>
        <p:txBody>
          <a:bodyPr wrap="square" lIns="0" tIns="0" rIns="0" bIns="0" rtlCol="0" anchor="t"/>
          <a:lstStyle/>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The first learned controller (a Q-table) was not faster than AIMD</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At 10% random loss the neural agent was 7x slower than AIMD (85 s against 11 s)</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Real sockets exposed a lost-handshake hang, spurious timeouts (262 retransmissions for about 3 losses) and a weak checksum</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Our early baselines were weak: untuned AIMD (window cap 32) made first wins look bigger</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Our own kernel tests were wrong four times: netem limit, untuned baseline, unequal payloads, synthetic 40-byte packets</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The first BBR-style baseline stalled at 10% loss and took 163 s after a delay jump</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The agent is a pushier neighbour than AIMD or CUBIC, and results vary with the training seed</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WHAT WE CHANGED</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Every issue led to a fix</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23 / 26</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023360"/>
                <a:gridCol w="7040880"/>
              </a:tblGrid>
              <a:tr h="566928">
                <a:tc>
                  <a:txBody>
                    <a:bodyPr/>
                    <a:lstStyle/>
                    <a:p>
                      <a:pPr indent="0" marL="0">
                        <a:buNone/>
                      </a:pPr>
                      <a:r>
                        <a:rPr lang="en-US" sz="1500" b="1" dirty="0">
                          <a:solidFill>
                            <a:srgbClr val="0A1020"/>
                          </a:solidFill>
                          <a:latin typeface="Calibri" pitchFamily="34" charset="0"/>
                          <a:ea typeface="Calibri" pitchFamily="34" charset="-122"/>
                          <a:cs typeface="Calibri" pitchFamily="34" charset="-120"/>
                        </a:rPr>
                        <a:t>Before</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500" b="1" dirty="0">
                          <a:solidFill>
                            <a:srgbClr val="0A1020"/>
                          </a:solidFill>
                          <a:latin typeface="Calibri" pitchFamily="34" charset="0"/>
                          <a:ea typeface="Calibri" pitchFamily="34" charset="-122"/>
                          <a:cs typeface="Calibri" pitchFamily="34" charset="-120"/>
                        </a:rPr>
                        <a:t>After</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Go-Back-N with a fixed 500 ms timer</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Selective Repeat: bitmap ACKs, per-packet timers, adaptive timer with a 1.3 x srtt floor; about 10x fewer retransmissions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Byte-sum checksum</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CRC-16: 0 of 333k corrupted packets accepted</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Server ignored data after a lost final handshake ACK</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Handled as in TCP, with a regression test</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Q-table agent, window cap 32</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5-32-32-5 neural network, cap 128, slow start, pacing</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Neural agent 7x slower than AIMD at 10% loss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Hand-over to AIMD while loss is high: 13.9 s instead of 84.9 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Untuned AIMD and CUBIC baselines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Tuned baselines, so every win is against a fair opponent</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Faulty kernel and BBR tests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Netem limit, equal payloads and real 512-byte packets; kernel runs repeated; BBR stall and slow recovery fixed</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FBBF24"/>
                </a:solidFill>
                <a:latin typeface="Calibri" pitchFamily="34" charset="0"/>
                <a:ea typeface="Calibri" pitchFamily="34" charset="-122"/>
                <a:cs typeface="Calibri" pitchFamily="34" charset="-120"/>
              </a:rPr>
              <a:t>LIMITS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What we state openly</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24 / 26</a:t>
            </a:r>
            <a:endParaRPr lang="en-US" sz="1000" dirty="0"/>
          </a:p>
        </p:txBody>
      </p:sp>
      <p:sp>
        <p:nvSpPr>
          <p:cNvPr id="5" name="Text 3"/>
          <p:cNvSpPr/>
          <p:nvPr/>
        </p:nvSpPr>
        <p:spPr>
          <a:xfrm>
            <a:off x="548640" y="1645920"/>
            <a:ext cx="11064240" cy="4480560"/>
          </a:xfrm>
          <a:prstGeom prst="rect">
            <a:avLst/>
          </a:prstGeom>
          <a:noFill/>
          <a:ln/>
        </p:spPr>
        <p:txBody>
          <a:bodyPr wrap="square" lIns="0" tIns="0" rIns="0" bIns="0" rtlCol="0" anchor="t"/>
          <a:lstStyle/>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Kernel TCP is still 1.5x to 1.7x faster than the neural agent on every kernel path</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Against tuned AIMD the agent takes about 70% of a shared link; the optional polite mode fixes that but costs speed</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Level with CUBIC under bursty cross traffic; no gain at 10% random loss; the BBR-style baseline is faster on the 2% lossy path</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Not formally verified: certified at +-0.001 for only 43% of decisions; trained in a simulator, never on real traces</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Two-machine run: one drifting relay path, 4 of 20 runs timed out, so no ranking is claimed</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Coexistence with kernel TCP: 3 runs per cell</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What we learned and what comes next</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25 / 26</a:t>
            </a:r>
            <a:endParaRPr lang="en-US" sz="1000" dirty="0"/>
          </a:p>
        </p:txBody>
      </p:sp>
      <p:sp>
        <p:nvSpPr>
          <p:cNvPr id="5" name="Shape 3"/>
          <p:cNvSpPr/>
          <p:nvPr/>
        </p:nvSpPr>
        <p:spPr>
          <a:xfrm>
            <a:off x="548640" y="1645920"/>
            <a:ext cx="5394960" cy="4206240"/>
          </a:xfrm>
          <a:prstGeom prst="rect">
            <a:avLst/>
          </a:prstGeom>
          <a:solidFill>
            <a:srgbClr val="121B2F"/>
          </a:solidFill>
          <a:ln w="12700">
            <a:solidFill>
              <a:srgbClr val="2DD4BF"/>
            </a:solidFill>
            <a:prstDash val="solid"/>
          </a:ln>
        </p:spPr>
      </p:sp>
      <p:sp>
        <p:nvSpPr>
          <p:cNvPr id="6" name="Text 4"/>
          <p:cNvSpPr/>
          <p:nvPr/>
        </p:nvSpPr>
        <p:spPr>
          <a:xfrm>
            <a:off x="731520" y="1755648"/>
            <a:ext cx="502920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Learned</a:t>
            </a:r>
            <a:endParaRPr lang="en-US" sz="1800" dirty="0"/>
          </a:p>
        </p:txBody>
      </p:sp>
      <p:sp>
        <p:nvSpPr>
          <p:cNvPr id="7" name="Text 5"/>
          <p:cNvSpPr/>
          <p:nvPr/>
        </p:nvSpPr>
        <p:spPr>
          <a:xfrm>
            <a:off x="731520" y="2212848"/>
            <a:ext cx="5029200" cy="3520440"/>
          </a:xfrm>
          <a:prstGeom prst="rect">
            <a:avLst/>
          </a:prstGeom>
          <a:noFill/>
          <a:ln/>
        </p:spPr>
        <p:txBody>
          <a:bodyPr wrap="square" lIns="0" tIns="0" rIns="0" bIns="0" rtlCol="0" anchor="t"/>
          <a:lstStyle/>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Reliability is a set of simple rules working together.</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Congestion control matters as much as retransmission.</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A tuned baseline is the only fair opponent.</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Test tools fail in surprising ways, so check your own numbers.</a:t>
            </a:r>
            <a:endParaRPr lang="en-US" sz="1800" dirty="0"/>
          </a:p>
        </p:txBody>
      </p:sp>
      <p:sp>
        <p:nvSpPr>
          <p:cNvPr id="8" name="Shape 6"/>
          <p:cNvSpPr/>
          <p:nvPr/>
        </p:nvSpPr>
        <p:spPr>
          <a:xfrm>
            <a:off x="6217920" y="1645920"/>
            <a:ext cx="5394960" cy="4206240"/>
          </a:xfrm>
          <a:prstGeom prst="rect">
            <a:avLst/>
          </a:prstGeom>
          <a:solidFill>
            <a:srgbClr val="121B2F"/>
          </a:solidFill>
          <a:ln w="12700">
            <a:solidFill>
              <a:srgbClr val="FBBF24"/>
            </a:solidFill>
            <a:prstDash val="solid"/>
          </a:ln>
        </p:spPr>
      </p:sp>
      <p:sp>
        <p:nvSpPr>
          <p:cNvPr id="9" name="Text 7"/>
          <p:cNvSpPr/>
          <p:nvPr/>
        </p:nvSpPr>
        <p:spPr>
          <a:xfrm>
            <a:off x="6400800" y="1755648"/>
            <a:ext cx="502920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Next</a:t>
            </a:r>
            <a:endParaRPr lang="en-US" sz="1800" dirty="0"/>
          </a:p>
        </p:txBody>
      </p:sp>
      <p:sp>
        <p:nvSpPr>
          <p:cNvPr id="10" name="Text 8"/>
          <p:cNvSpPr/>
          <p:nvPr/>
        </p:nvSpPr>
        <p:spPr>
          <a:xfrm>
            <a:off x="6400800" y="2212848"/>
            <a:ext cx="5029200" cy="3520440"/>
          </a:xfrm>
          <a:prstGeom prst="rect">
            <a:avLst/>
          </a:prstGeom>
          <a:noFill/>
          <a:ln/>
        </p:spPr>
        <p:txBody>
          <a:bodyPr wrap="square" lIns="0" tIns="0" rIns="0" bIns="0" rtlCol="0" anchor="t"/>
          <a:lstStyle/>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Controlled multi-machine tests on a direct network</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Train with a competing flow so fairness is learned</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Train on real traces with cross traffic</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Close the gap to kernel TCP</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731520" y="2011680"/>
            <a:ext cx="10058400" cy="1188720"/>
          </a:xfrm>
          <a:prstGeom prst="rect">
            <a:avLst/>
          </a:prstGeom>
          <a:noFill/>
          <a:ln/>
        </p:spPr>
        <p:txBody>
          <a:bodyPr wrap="square" lIns="0" tIns="0" rIns="0" bIns="0" rtlCol="0" anchor="ctr"/>
          <a:lstStyle/>
          <a:p>
            <a:pPr indent="0" marL="0">
              <a:buNone/>
            </a:pPr>
            <a:r>
              <a:rPr lang="en-US" sz="6400" b="1" dirty="0">
                <a:solidFill>
                  <a:srgbClr val="2DD4BF"/>
                </a:solidFill>
                <a:latin typeface="Calibri" pitchFamily="34" charset="0"/>
                <a:ea typeface="Calibri" pitchFamily="34" charset="-122"/>
                <a:cs typeface="Calibri" pitchFamily="34" charset="-120"/>
              </a:rPr>
              <a:t>Thank you</a:t>
            </a:r>
            <a:endParaRPr lang="en-US" sz="6400" dirty="0"/>
          </a:p>
        </p:txBody>
      </p:sp>
      <p:sp>
        <p:nvSpPr>
          <p:cNvPr id="3" name="Text 1"/>
          <p:cNvSpPr/>
          <p:nvPr/>
        </p:nvSpPr>
        <p:spPr>
          <a:xfrm>
            <a:off x="731520" y="3474720"/>
            <a:ext cx="10058400" cy="548640"/>
          </a:xfrm>
          <a:prstGeom prst="rect">
            <a:avLst/>
          </a:prstGeom>
          <a:noFill/>
          <a:ln/>
        </p:spPr>
        <p:txBody>
          <a:bodyPr wrap="square" lIns="0" tIns="0" rIns="0" bIns="0" rtlCol="0" anchor="ctr"/>
          <a:lstStyle/>
          <a:p>
            <a:pPr indent="0" marL="0">
              <a:buNone/>
            </a:pPr>
            <a:r>
              <a:rPr lang="en-US" sz="2600" dirty="0">
                <a:solidFill>
                  <a:srgbClr val="EAF0F8"/>
                </a:solidFill>
                <a:latin typeface="Calibri" pitchFamily="34" charset="0"/>
                <a:ea typeface="Calibri" pitchFamily="34" charset="-122"/>
                <a:cs typeface="Calibri" pitchFamily="34" charset="-120"/>
              </a:rPr>
              <a:t>github.com/Capsturrrr/poise</a:t>
            </a:r>
            <a:endParaRPr lang="en-US" sz="2600" dirty="0"/>
          </a:p>
        </p:txBody>
      </p:sp>
      <p:sp>
        <p:nvSpPr>
          <p:cNvPr id="4" name="Text 2"/>
          <p:cNvSpPr/>
          <p:nvPr/>
        </p:nvSpPr>
        <p:spPr>
          <a:xfrm>
            <a:off x="731520" y="4206240"/>
            <a:ext cx="10058400" cy="457200"/>
          </a:xfrm>
          <a:prstGeom prst="rect">
            <a:avLst/>
          </a:prstGeom>
          <a:noFill/>
          <a:ln/>
        </p:spPr>
        <p:txBody>
          <a:bodyPr wrap="square" lIns="0" tIns="0" rIns="0" bIns="0" rtlCol="0" anchor="ctr"/>
          <a:lstStyle/>
          <a:p>
            <a:pPr indent="0" marL="0">
              <a:buNone/>
            </a:pPr>
            <a:r>
              <a:rPr lang="en-US" sz="1800" dirty="0">
                <a:solidFill>
                  <a:srgbClr val="8FA1BC"/>
                </a:solidFill>
                <a:latin typeface="Calibri" pitchFamily="34" charset="0"/>
                <a:ea typeface="Calibri" pitchFamily="34" charset="-122"/>
                <a:cs typeface="Calibri" pitchFamily="34" charset="-120"/>
              </a:rPr>
              <a:t>Harshavardhan Mallela   Rohit Arya   Shloak Sinha</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Neural agent in the C transport</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583680" cy="914400"/>
        </p:xfrm>
        <a:graphic>
          <a:graphicData uri="http://schemas.openxmlformats.org/drawingml/2006/table">
            <a:tbl>
              <a:tblPr/>
              <a:tblGrid>
                <a:gridCol w="2468880"/>
                <a:gridCol w="1280160"/>
                <a:gridCol w="1463040"/>
                <a:gridCol w="1371600"/>
              </a:tblGrid>
              <a:tr h="457200">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1,200 packets, C transport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Table (rl2)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2.64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1.18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Lossy wireless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9.13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7.54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6.63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17.9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38.1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5" name="Text 2"/>
          <p:cNvSpPr/>
          <p:nvPr/>
        </p:nvSpPr>
        <p:spPr>
          <a:xfrm>
            <a:off x="7406640" y="1188720"/>
            <a:ext cx="4297680" cy="4572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Neural agent beats AIMD on all three paths: 15%, 27%, 24% faster (95% intervals exclude zero)</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Table agent does not generalise: slower on 5G-like and satellite-like</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Selective ACK in C: about 10x fewer retransmissions, no significant time change here</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Caveats: trained in a simulator; emulated paths (not real networks); agent retransmits more on random loss</a:t>
            </a:r>
            <a:endParaRPr lang="en-US" sz="1500" dirty="0"/>
          </a:p>
        </p:txBody>
      </p:sp>
      <p:sp>
        <p:nvSpPr>
          <p:cNvPr id="6" name="Text 3"/>
          <p:cNvSpPr/>
          <p:nvPr/>
        </p:nvSpPr>
        <p:spPr>
          <a:xfrm>
            <a:off x="548640" y="3840480"/>
            <a:ext cx="6583680" cy="73152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15 runs per cell (satellite: 8), 95% intervals. Equal-cap check (AIMD capped at 32, 10 runs): neural still wins by 19%, 29%, 28%, all significant (eval_ci4.sh).</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Safety net: hand over to AIMD</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035040" cy="914400"/>
        </p:xfrm>
        <a:graphic>
          <a:graphicData uri="http://schemas.openxmlformats.org/drawingml/2006/table">
            <a:tbl>
              <a:tblPr/>
              <a:tblGrid>
                <a:gridCol w="2468880"/>
                <a:gridCol w="1097280"/>
                <a:gridCol w="1188720"/>
                <a:gridCol w="1280160"/>
              </a:tblGrid>
              <a:tr h="420624">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C transport, seconds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AIMD 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Hybrid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420624">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1.48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1.17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1.23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20624">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9.04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7.53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7.57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20624">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19.7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20624">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Hostile, 10%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84.9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5" name="Text 2"/>
          <p:cNvSpPr/>
          <p:nvPr/>
        </p:nvSpPr>
        <p:spPr>
          <a:xfrm>
            <a:off x="6949440" y="1188720"/>
            <a:ext cx="48463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Problem found: at 10% loss the neural agent is 7x slower than AIMD</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Fix: while a decision interval loses 10% or more, AIMD drives the window; after 3 clean intervals the agent resumes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Keeps the wins on the three benign paths, and the hostile path is no longer significantly different from AIMD</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A timeout cut (x0.25) was tried and dropped: it helped the hostile path but hurt the 2% path (24 s vs 9 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Honest summary: the agent helps on clean-to-moderate paths; it needs a classical safety net elsewhere</a:t>
            </a:r>
            <a:endParaRPr lang="en-US" sz="1400" dirty="0"/>
          </a:p>
        </p:txBody>
      </p:sp>
      <p:sp>
        <p:nvSpPr>
          <p:cNvPr id="6" name="Text 3"/>
          <p:cNvSpPr/>
          <p:nvPr/>
        </p:nvSpPr>
        <p:spPr>
          <a:xfrm>
            <a:off x="548640" y="3840480"/>
            <a:ext cx="6035040" cy="73152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10 runs per cell (hostile: 5 runs, 300 packets), 95% intervals. Flag: --hybrid 0.10. Code: eval_ci6.sh.</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More evidence: baselines, SACK, reordering</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486400" cy="914400"/>
        </p:xfrm>
        <a:graphic>
          <a:graphicData uri="http://schemas.openxmlformats.org/drawingml/2006/table">
            <a:tbl>
              <a:tblPr/>
              <a:tblGrid>
                <a:gridCol w="2926080"/>
                <a:gridCol w="1371600"/>
                <a:gridCol w="1188720"/>
              </a:tblGrid>
              <a:tr h="384048">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48 paths, original simulator</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Mean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Median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Plain UDP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68% delivered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TCP model (selective ACK)</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4.56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1.48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Poise fixed window</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3.88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2.00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Poise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7.16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2.72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Smart-Poise, table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3.73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1.99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Smart-Poise, deep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3.20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1.79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5" name="Text 2"/>
          <p:cNvSpPr/>
          <p:nvPr/>
        </p:nvSpPr>
        <p:spPr>
          <a:xfrm>
            <a:off x="6309360" y="1188720"/>
            <a:ext cx="5394960"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Selective ACK (simulated): AIMD mean 7.16 s to 4.90 s, median 2.72 s to 1.44 s; faster on 34 of 48 paths. Go-Back-N is the main weakness.</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Reordering (20 ms jitter): AIMD 0.82 s to 6.79 s; deep agent 0.93 s; SACK removes most of the damage.</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20-run intervals for the C experiments: Smart slower on 5G-like (+0.92 s) and satellite-like (+6.3 s), tie on lossy.</a:t>
            </a:r>
            <a:endParaRPr lang="en-US" sz="1500" dirty="0"/>
          </a:p>
        </p:txBody>
      </p:sp>
      <p:sp>
        <p:nvSpPr>
          <p:cNvPr id="6" name="Text 3"/>
          <p:cNvSpPr/>
          <p:nvPr/>
        </p:nvSpPr>
        <p:spPr>
          <a:xfrm>
            <a:off x="548640" y="5120640"/>
            <a:ext cx="5486400" cy="73152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Caveat: this simulator allowed a dup-ACK retransmission storm. With the realistic rule, stress means are AIMD 7.75 s, neural 7.27 s: about level. The TCP row is a model, not kernel TCP.</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Fairness, ablations, chat fixes</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852160" cy="914400"/>
        </p:xfrm>
        <a:graphic>
          <a:graphicData uri="http://schemas.openxmlformats.org/drawingml/2006/table">
            <a:tbl>
              <a:tblPr/>
              <a:tblGrid>
                <a:gridCol w="3291840"/>
                <a:gridCol w="1280160"/>
                <a:gridCol w="1280160"/>
              </a:tblGrid>
              <a:tr h="384048">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Two flows, one bottleneck</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Share of A</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Jain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AIMD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Deep vs deep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0.969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Deep vs AIMD (no-loss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0.987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Deep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0.819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Fixed 8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0.843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5" name="Text 2"/>
          <p:cNvSpPr/>
          <p:nvPr/>
        </p:nvSpPr>
        <p:spPr>
          <a:xfrm>
            <a:off x="6766560" y="1188720"/>
            <a:ext cx="502920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Fair on short paths; takes 74% against AIMD on the 120 ms path, like a fixed window</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Ablation: the no-shrink mask is what matters (6.54 s without it, about 3.3 s with it; AIMD 7.16 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Other parts (delay penalty, last action, throughput input) showed no measurable value</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Same recipe gave 3.2 to 7.4 s across seeds: seed sensitivity is a real weakness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Found and fixed a dup-ACK retransmission storm in the chat gateway; added a live dashboard and an adaptive RTO</a:t>
            </a:r>
            <a:endParaRPr lang="en-US" sz="1400" dirty="0"/>
          </a:p>
        </p:txBody>
      </p:sp>
      <p:sp>
        <p:nvSpPr>
          <p:cNvPr id="6" name="Text 3"/>
          <p:cNvSpPr/>
          <p:nvPr/>
        </p:nvSpPr>
        <p:spPr>
          <a:xfrm>
            <a:off x="548640" y="3840480"/>
            <a:ext cx="5852160" cy="73152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Simulator, 20 seeds; ablation on 48 stress paths. Code: web/fairness_test.py, web/ablate.py.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Fairness and file transfer</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486400" cy="914400"/>
        </p:xfrm>
        <a:graphic>
          <a:graphicData uri="http://schemas.openxmlformats.org/drawingml/2006/table">
            <a:tbl>
              <a:tblPr/>
              <a:tblGrid>
                <a:gridCol w="2651760"/>
                <a:gridCol w="914400"/>
                <a:gridCol w="914400"/>
                <a:gridCol w="1005840"/>
              </a:tblGrid>
              <a:tr h="402336">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Two flows, real sockets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Share A</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Share B</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Jain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AIMD vs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vs 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vs 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68%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vs AIMD cap 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CUBIC vs 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61%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548640" y="3931920"/>
          <a:ext cx="5486400" cy="914400"/>
        </p:xfrm>
        <a:graphic>
          <a:graphicData uri="http://schemas.openxmlformats.org/drawingml/2006/table">
            <a:tbl>
              <a:tblPr/>
              <a:tblGrid>
                <a:gridCol w="2011680"/>
                <a:gridCol w="1188720"/>
                <a:gridCol w="1188720"/>
                <a:gridCol w="1097280"/>
              </a:tblGrid>
              <a:tr h="402336">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File transfer</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AIMD cap 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 MB, 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26.6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24.2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11.9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 MB, fast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34.6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21.0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8.9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6" name="Text 2"/>
          <p:cNvSpPr/>
          <p:nvPr/>
        </p:nvSpPr>
        <p:spPr>
          <a:xfrm>
            <a:off x="6400800" y="1188720"/>
            <a:ext cx="53035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The agent is a more aggressive neighbour than AIMD or CUBIC: no starvation, but not polite. Not trained for fairness; TCP coexistence untested</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smart_client --file sends a real file; the received file is byte-identical in every run (FNV-1a hash)</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Terminal chat and web gateway now use the same 256-packet window and 32-byte bitmap as the C transport; interop test at 20% loss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CI, fuzzing, MIT licence, architecture doc</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Closing gaps: fairness and cross traffic</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394960" cy="914400"/>
        </p:xfrm>
        <a:graphic>
          <a:graphicData uri="http://schemas.openxmlformats.org/drawingml/2006/table">
            <a:tbl>
              <a:tblPr/>
              <a:tblGrid>
                <a:gridCol w="2651760"/>
                <a:gridCol w="1463040"/>
                <a:gridCol w="1280160"/>
              </a:tblGrid>
              <a:tr h="384048">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Neural vs tuned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Agent share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Jain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Default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--polite 1.2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--polite 1.3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--polite 1.5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6309360" y="1188720"/>
          <a:ext cx="5394960" cy="914400"/>
        </p:xfrm>
        <a:graphic>
          <a:graphicData uri="http://schemas.openxmlformats.org/drawingml/2006/table">
            <a:tbl>
              <a:tblPr/>
              <a:tblGrid>
                <a:gridCol w="2651760"/>
                <a:gridCol w="1371600"/>
                <a:gridCol w="1371600"/>
              </a:tblGrid>
              <a:tr h="384048">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Bursty cross traffic</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Time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vs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5.73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CUBIC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4.55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0.79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agent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4.87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polite 1.3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4.92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6" name="Text 2"/>
          <p:cNvSpPr/>
          <p:nvPr/>
        </p:nvSpPr>
        <p:spPr>
          <a:xfrm>
            <a:off x="548640" y="3474720"/>
            <a:ext cx="110642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AF0F8"/>
                </a:solidFill>
                <a:latin typeface="Calibri" pitchFamily="34" charset="0"/>
                <a:ea typeface="Calibri" pitchFamily="34" charset="-122"/>
                <a:cs typeface="Calibri" pitchFamily="34" charset="-120"/>
              </a:rPr>
              <a:t>Polite mode: back off when a standing queue builds (jitter-aware). Share 70% to 52%; costs speed (0.53x to 0.58x of AIMD time on 100 paths, worst path 2.95x slower), so it is off by default</a:t>
            </a:r>
            <a:endParaRPr lang="en-US" sz="1600" dirty="0"/>
          </a:p>
          <a:p>
            <a:pPr marL="342900" indent="-342900">
              <a:spcAft>
                <a:spcPts val="800"/>
              </a:spcAft>
              <a:buSzPct val="100000"/>
              <a:buChar char="•"/>
            </a:pPr>
            <a:r>
              <a:rPr lang="en-US" sz="1600" dirty="0">
                <a:solidFill>
                  <a:srgbClr val="EAF0F8"/>
                </a:solidFill>
                <a:latin typeface="Calibri" pitchFamily="34" charset="0"/>
                <a:ea typeface="Calibri" pitchFamily="34" charset="-122"/>
                <a:cs typeface="Calibri" pitchFamily="34" charset="-120"/>
              </a:rPr>
              <a:t>Bursty cross traffic (new proxy option, 8 runs): neural is 15% faster than tuned AIMD but level with CUBIC; three tweaks to fix its extra retransmissions did not help</a:t>
            </a:r>
            <a:endParaRPr lang="en-US" sz="1600" dirty="0"/>
          </a:p>
          <a:p>
            <a:pPr marL="342900" indent="-342900">
              <a:spcAft>
                <a:spcPts val="800"/>
              </a:spcAft>
              <a:buSzPct val="100000"/>
              <a:buChar char="•"/>
            </a:pPr>
            <a:r>
              <a:rPr lang="en-US" sz="1600" dirty="0">
                <a:solidFill>
                  <a:srgbClr val="EAF0F8"/>
                </a:solidFill>
                <a:latin typeface="Calibri" pitchFamily="34" charset="0"/>
                <a:ea typeface="Calibri" pitchFamily="34" charset="-122"/>
                <a:cs typeface="Calibri" pitchFamily="34" charset="-120"/>
              </a:rPr>
              <a:t>Server now handles up to 16 clients at once; a test sends two files simultaneously and checks both byte-for-byte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Real sockets found what the emulator could not</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sp>
        <p:nvSpPr>
          <p:cNvPr id="4" name="Shape 2"/>
          <p:cNvSpPr/>
          <p:nvPr/>
        </p:nvSpPr>
        <p:spPr>
          <a:xfrm>
            <a:off x="548640" y="1280160"/>
            <a:ext cx="3611880" cy="3291840"/>
          </a:xfrm>
          <a:prstGeom prst="rect">
            <a:avLst/>
          </a:prstGeom>
          <a:solidFill>
            <a:srgbClr val="121B2F"/>
          </a:solidFill>
          <a:ln w="12700">
            <a:solidFill>
              <a:srgbClr val="2DD4BF"/>
            </a:solidFill>
            <a:prstDash val="solid"/>
          </a:ln>
        </p:spPr>
      </p:sp>
      <p:sp>
        <p:nvSpPr>
          <p:cNvPr id="5" name="Text 3"/>
          <p:cNvSpPr/>
          <p:nvPr/>
        </p:nvSpPr>
        <p:spPr>
          <a:xfrm>
            <a:off x="731520" y="1417320"/>
            <a:ext cx="3246120" cy="457200"/>
          </a:xfrm>
          <a:prstGeom prst="rect">
            <a:avLst/>
          </a:prstGeom>
          <a:noFill/>
          <a:ln/>
        </p:spPr>
        <p:txBody>
          <a:bodyPr wrap="square" lIns="0" tIns="0" rIns="0" bIns="0"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Lost handshake ACK</a:t>
            </a:r>
            <a:endParaRPr lang="en-US" sz="2000" dirty="0"/>
          </a:p>
        </p:txBody>
      </p:sp>
      <p:sp>
        <p:nvSpPr>
          <p:cNvPr id="6" name="Text 4"/>
          <p:cNvSpPr/>
          <p:nvPr/>
        </p:nvSpPr>
        <p:spPr>
          <a:xfrm>
            <a:off x="731520" y="1920240"/>
            <a:ext cx="3246120" cy="251460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Server ignored all data after a lost final ACK: transfers hung (2 of 4 runs at 10% loss). Fixed as in TCP; regression test added.</a:t>
            </a:r>
            <a:endParaRPr lang="en-US" sz="1800" dirty="0"/>
          </a:p>
        </p:txBody>
      </p:sp>
      <p:sp>
        <p:nvSpPr>
          <p:cNvPr id="7" name="Shape 5"/>
          <p:cNvSpPr/>
          <p:nvPr/>
        </p:nvSpPr>
        <p:spPr>
          <a:xfrm>
            <a:off x="4297680" y="1280160"/>
            <a:ext cx="3611880" cy="3291840"/>
          </a:xfrm>
          <a:prstGeom prst="rect">
            <a:avLst/>
          </a:prstGeom>
          <a:solidFill>
            <a:srgbClr val="121B2F"/>
          </a:solidFill>
          <a:ln w="12700">
            <a:solidFill>
              <a:srgbClr val="FBBF24"/>
            </a:solidFill>
            <a:prstDash val="solid"/>
          </a:ln>
        </p:spPr>
      </p:sp>
      <p:sp>
        <p:nvSpPr>
          <p:cNvPr id="8" name="Text 6"/>
          <p:cNvSpPr/>
          <p:nvPr/>
        </p:nvSpPr>
        <p:spPr>
          <a:xfrm>
            <a:off x="4480560" y="1417320"/>
            <a:ext cx="3246120" cy="457200"/>
          </a:xfrm>
          <a:prstGeom prst="rect">
            <a:avLst/>
          </a:prstGeom>
          <a:noFill/>
          <a:ln/>
        </p:spPr>
        <p:txBody>
          <a:bodyPr wrap="square" lIns="0" tIns="0" rIns="0" bIns="0" rtlCol="0" anchor="ctr"/>
          <a:lstStyle/>
          <a:p>
            <a:pPr indent="0" marL="0">
              <a:buNone/>
            </a:pPr>
            <a:r>
              <a:rPr lang="en-US" sz="2000" b="1" dirty="0">
                <a:solidFill>
                  <a:srgbClr val="FBBF24"/>
                </a:solidFill>
                <a:latin typeface="Calibri" pitchFamily="34" charset="0"/>
                <a:ea typeface="Calibri" pitchFamily="34" charset="-122"/>
                <a:cs typeface="Calibri" pitchFamily="34" charset="-120"/>
              </a:rPr>
              <a:t>Spurious timeouts</a:t>
            </a:r>
            <a:endParaRPr lang="en-US" sz="2000" dirty="0"/>
          </a:p>
        </p:txBody>
      </p:sp>
      <p:sp>
        <p:nvSpPr>
          <p:cNvPr id="9" name="Text 7"/>
          <p:cNvSpPr/>
          <p:nvPr/>
        </p:nvSpPr>
        <p:spPr>
          <a:xfrm>
            <a:off x="4480560" y="1920240"/>
            <a:ext cx="3246120" cy="251460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Timer too tight for window bursts: 262 retransmissions for ~3 losses. Floor of 1.3 x srtt. It also made AIMD 41% faster, so the old margins were too big.</a:t>
            </a:r>
            <a:endParaRPr lang="en-US" sz="1800" dirty="0"/>
          </a:p>
        </p:txBody>
      </p:sp>
      <p:sp>
        <p:nvSpPr>
          <p:cNvPr id="10" name="Shape 8"/>
          <p:cNvSpPr/>
          <p:nvPr/>
        </p:nvSpPr>
        <p:spPr>
          <a:xfrm>
            <a:off x="8046720" y="1280160"/>
            <a:ext cx="3611880" cy="3291840"/>
          </a:xfrm>
          <a:prstGeom prst="rect">
            <a:avLst/>
          </a:prstGeom>
          <a:solidFill>
            <a:srgbClr val="121B2F"/>
          </a:solidFill>
          <a:ln w="12700">
            <a:solidFill>
              <a:srgbClr val="2DD4BF"/>
            </a:solidFill>
            <a:prstDash val="solid"/>
          </a:ln>
        </p:spPr>
      </p:sp>
      <p:sp>
        <p:nvSpPr>
          <p:cNvPr id="11" name="Text 9"/>
          <p:cNvSpPr/>
          <p:nvPr/>
        </p:nvSpPr>
        <p:spPr>
          <a:xfrm>
            <a:off x="8229600" y="1417320"/>
            <a:ext cx="3246120" cy="457200"/>
          </a:xfrm>
          <a:prstGeom prst="rect">
            <a:avLst/>
          </a:prstGeom>
          <a:noFill/>
          <a:ln/>
        </p:spPr>
        <p:txBody>
          <a:bodyPr wrap="square" lIns="0" tIns="0" rIns="0" bIns="0"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Weak checksum</a:t>
            </a:r>
            <a:endParaRPr lang="en-US" sz="2000" dirty="0"/>
          </a:p>
        </p:txBody>
      </p:sp>
      <p:sp>
        <p:nvSpPr>
          <p:cNvPr id="12" name="Text 10"/>
          <p:cNvSpPr/>
          <p:nvPr/>
        </p:nvSpPr>
        <p:spPr>
          <a:xfrm>
            <a:off x="8229600" y="1920240"/>
            <a:ext cx="3246120" cy="251460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Byte-sum checksum let 2% of corrupted packets through (fuzzer). Now CRC-16: 0 of 333k accepted, sanitizers clean.</a:t>
            </a:r>
            <a:endParaRPr lang="en-US" sz="1800" dirty="0"/>
          </a:p>
        </p:txBody>
      </p:sp>
      <p:sp>
        <p:nvSpPr>
          <p:cNvPr id="13" name="Text 11"/>
          <p:cNvSpPr/>
          <p:nvPr/>
        </p:nvSpPr>
        <p:spPr>
          <a:xfrm>
            <a:off x="548640" y="4892040"/>
            <a:ext cx="11064240" cy="914400"/>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Independent check on real UDP sockets through an impairment proxy (src/impair.c): neural agent -17% / -53% / -45% / -39% vs tuned AIMD on 5G / lossy / satellite / fast; hostile path a tie. eval_proxy.sh</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Problems we hit and fixed</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0"/>
                <a:gridCol w="6492240"/>
              </a:tblGrid>
              <a:tr h="731520">
                <a:tc>
                  <a:txBody>
                    <a:bodyPr/>
                    <a:lstStyle/>
                    <a:p>
                      <a:pPr indent="0" marL="0">
                        <a:buNone/>
                      </a:pPr>
                      <a:r>
                        <a:rPr lang="en-US" sz="1700" b="1" dirty="0">
                          <a:solidFill>
                            <a:srgbClr val="0A1020"/>
                          </a:solidFill>
                          <a:latin typeface="Calibri" pitchFamily="34" charset="0"/>
                          <a:ea typeface="Calibri" pitchFamily="34" charset="-122"/>
                          <a:cs typeface="Calibri" pitchFamily="34" charset="-120"/>
                        </a:rPr>
                        <a:t>Problem</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700" b="1" dirty="0">
                          <a:solidFill>
                            <a:srgbClr val="0A1020"/>
                          </a:solidFill>
                          <a:latin typeface="Calibri" pitchFamily="34" charset="0"/>
                          <a:ea typeface="Calibri" pitchFamily="34" charset="-122"/>
                          <a:cs typeface="Calibri" pitchFamily="34" charset="-120"/>
                        </a:rPr>
                        <a:t>Fix</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731520">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Server stuck after killed client</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Accept SYN in any state (was a 15.5 s hang)</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731520">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Leftover netem rule</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Check tc qdisc show dev lo, delete before each test</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731520">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Windows Wireshark saw nothing</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Capture with tshark inside WSL, then copy</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731520">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Shell portability in benchmark</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Replaced date/grep tricks with awk and sed</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Our first learned agent: an honest result</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pic>
        <p:nvPicPr>
          <p:cNvPr id="4" name="Image 0" descr="sm_fig1_comparison.png">    </p:cNvPr>
          <p:cNvPicPr>
            <a:picLocks noChangeAspect="1"/>
          </p:cNvPicPr>
          <p:nvPr/>
        </p:nvPicPr>
        <p:blipFill>
          <a:blip r:embed="rId1"/>
          <a:stretch>
            <a:fillRect/>
          </a:stretch>
        </p:blipFill>
        <p:spPr>
          <a:xfrm>
            <a:off x="548640" y="1097280"/>
            <a:ext cx="11064240" cy="3621024"/>
          </a:xfrm>
          <a:prstGeom prst="rect">
            <a:avLst/>
          </a:prstGeom>
        </p:spPr>
      </p:pic>
      <p:sp>
        <p:nvSpPr>
          <p:cNvPr id="5" name="Text 2"/>
          <p:cNvSpPr/>
          <p:nvPr/>
        </p:nvSpPr>
        <p:spPr>
          <a:xfrm>
            <a:off x="548640" y="493776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6 evaluation runs per scenario after 40 training episodes</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Not faster: +63% time on 5G-like, +10% on satellite, tie on lossy</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Fewer retransmissions on 5G-like and satellite, but within run-to-run noise</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Earlier training rounds were much worse; reported run is the final configuration</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Benchmark results</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pic>
        <p:nvPicPr>
          <p:cNvPr id="4" name="Image 0" descr="fig3_benchmark_duration.png">    </p:cNvPr>
          <p:cNvPicPr>
            <a:picLocks noChangeAspect="1"/>
          </p:cNvPicPr>
          <p:nvPr/>
        </p:nvPicPr>
        <p:blipFill>
          <a:blip r:embed="rId1"/>
          <a:stretch>
            <a:fillRect/>
          </a:stretch>
        </p:blipFill>
        <p:spPr>
          <a:xfrm>
            <a:off x="457200" y="1188720"/>
            <a:ext cx="5669280" cy="3259836"/>
          </a:xfrm>
          <a:prstGeom prst="rect">
            <a:avLst/>
          </a:prstGeom>
        </p:spPr>
      </p:pic>
      <p:pic>
        <p:nvPicPr>
          <p:cNvPr id="5" name="Image 1" descr="fig4_benchmark_final_cwnd.png">    </p:cNvPr>
          <p:cNvPicPr>
            <a:picLocks noChangeAspect="1"/>
          </p:cNvPicPr>
          <p:nvPr/>
        </p:nvPicPr>
        <p:blipFill>
          <a:blip r:embed="rId2"/>
          <a:stretch>
            <a:fillRect/>
          </a:stretch>
        </p:blipFill>
        <p:spPr>
          <a:xfrm>
            <a:off x="6217920" y="1188720"/>
            <a:ext cx="5486400" cy="3154680"/>
          </a:xfrm>
          <a:prstGeom prst="rect">
            <a:avLst/>
          </a:prstGeom>
        </p:spPr>
      </p:pic>
      <p:sp>
        <p:nvSpPr>
          <p:cNvPr id="6" name="Text 2"/>
          <p:cNvSpPr/>
          <p:nvPr/>
        </p:nvSpPr>
        <p:spPr>
          <a:xfrm>
            <a:off x="548640" y="4846320"/>
            <a:ext cx="10972800" cy="45720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62 of 62 packets delivered at every loss level, from 0% to 40%.</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Literature behind the design</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sp>
        <p:nvSpPr>
          <p:cNvPr id="4" name="Text 2"/>
          <p:cNvSpPr/>
          <p:nvPr/>
        </p:nvSpPr>
        <p:spPr>
          <a:xfrm>
            <a:off x="548640" y="1371600"/>
            <a:ext cx="11064240" cy="402336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Jacobson &amp; Karels (1988): congestion avoidance and control, the origin of AIMD</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Chiu &amp; Jain (1989): why additive increase, multiplicative decrease converges fairly</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RFC 5681 (2009): TCP congestion control standard</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Ha, Rhee, Xu (2008): CUBIC, our future-work direction</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Langley et al. (2017) and RFC 9000: QUIC, reliable transport over UDP in production</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Midhula &amp; Arun Raj Kumar (2024) and Cao et al. (2023, DRLFcc): deep reinforcement learning for congestion control, the idea behind Smart-Poise</a:t>
            </a:r>
            <a:endParaRPr lang="en-US" sz="1900" dirty="0"/>
          </a:p>
        </p:txBody>
      </p:sp>
      <p:sp>
        <p:nvSpPr>
          <p:cNvPr id="5" name="Text 3"/>
          <p:cNvSpPr/>
          <p:nvPr/>
        </p:nvSpPr>
        <p:spPr>
          <a:xfrm>
            <a:off x="548640" y="5394960"/>
            <a:ext cx="10972800" cy="457200"/>
          </a:xfrm>
          <a:prstGeom prst="rect">
            <a:avLst/>
          </a:prstGeom>
          <a:noFill/>
          <a:ln/>
        </p:spPr>
        <p:txBody>
          <a:bodyPr wrap="square" lIns="0" tIns="0" rIns="0" bIns="0" rtlCol="0" anchor="ctr"/>
          <a:lstStyle/>
          <a:p>
            <a:pPr indent="0" marL="0">
              <a:buNone/>
            </a:pPr>
            <a:r>
              <a:rPr lang="en-US" sz="2000" b="1" dirty="0">
                <a:solidFill>
                  <a:srgbClr val="FBBF24"/>
                </a:solidFill>
                <a:latin typeface="Calibri" pitchFamily="34" charset="0"/>
                <a:ea typeface="Calibri" pitchFamily="34" charset="-122"/>
                <a:cs typeface="Calibri" pitchFamily="34" charset="-120"/>
              </a:rPr>
              <a:t>Key researcher: Van Jacobson</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Smart-Poise: a Q-learning window controller</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sp>
        <p:nvSpPr>
          <p:cNvPr id="4" name="Shape 2"/>
          <p:cNvSpPr/>
          <p:nvPr/>
        </p:nvSpPr>
        <p:spPr>
          <a:xfrm>
            <a:off x="548640" y="1371600"/>
            <a:ext cx="3566160" cy="3108960"/>
          </a:xfrm>
          <a:prstGeom prst="rect">
            <a:avLst/>
          </a:prstGeom>
          <a:solidFill>
            <a:srgbClr val="121B2F"/>
          </a:solidFill>
          <a:ln w="12700">
            <a:solidFill>
              <a:srgbClr val="2DD4BF"/>
            </a:solidFill>
            <a:prstDash val="solid"/>
          </a:ln>
        </p:spPr>
      </p:sp>
      <p:sp>
        <p:nvSpPr>
          <p:cNvPr id="5" name="Text 3"/>
          <p:cNvSpPr/>
          <p:nvPr/>
        </p:nvSpPr>
        <p:spPr>
          <a:xfrm>
            <a:off x="731520" y="1508760"/>
            <a:ext cx="3200400" cy="457200"/>
          </a:xfrm>
          <a:prstGeom prst="rect">
            <a:avLst/>
          </a:prstGeom>
          <a:noFill/>
          <a:ln/>
        </p:spPr>
        <p:txBody>
          <a:bodyPr wrap="square" lIns="0" tIns="0" rIns="0" bIns="0"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State (80)</a:t>
            </a:r>
            <a:endParaRPr lang="en-US" sz="2000" dirty="0"/>
          </a:p>
        </p:txBody>
      </p:sp>
      <p:sp>
        <p:nvSpPr>
          <p:cNvPr id="6" name="Text 4"/>
          <p:cNvSpPr/>
          <p:nvPr/>
        </p:nvSpPr>
        <p:spPr>
          <a:xfrm>
            <a:off x="731520" y="2011680"/>
            <a:ext cx="3200400" cy="233172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RTT ratio x loss fraction x window size, sampled once per RTT.</a:t>
            </a:r>
            <a:endParaRPr lang="en-US" sz="1800" dirty="0"/>
          </a:p>
        </p:txBody>
      </p:sp>
      <p:sp>
        <p:nvSpPr>
          <p:cNvPr id="7" name="Shape 5"/>
          <p:cNvSpPr/>
          <p:nvPr/>
        </p:nvSpPr>
        <p:spPr>
          <a:xfrm>
            <a:off x="4297680" y="1371600"/>
            <a:ext cx="3566160" cy="3108960"/>
          </a:xfrm>
          <a:prstGeom prst="rect">
            <a:avLst/>
          </a:prstGeom>
          <a:solidFill>
            <a:srgbClr val="121B2F"/>
          </a:solidFill>
          <a:ln w="12700">
            <a:solidFill>
              <a:srgbClr val="FBBF24"/>
            </a:solidFill>
            <a:prstDash val="solid"/>
          </a:ln>
        </p:spPr>
      </p:sp>
      <p:sp>
        <p:nvSpPr>
          <p:cNvPr id="8" name="Text 6"/>
          <p:cNvSpPr/>
          <p:nvPr/>
        </p:nvSpPr>
        <p:spPr>
          <a:xfrm>
            <a:off x="4480560" y="1508760"/>
            <a:ext cx="3200400" cy="457200"/>
          </a:xfrm>
          <a:prstGeom prst="rect">
            <a:avLst/>
          </a:prstGeom>
          <a:noFill/>
          <a:ln/>
        </p:spPr>
        <p:txBody>
          <a:bodyPr wrap="square" lIns="0" tIns="0" rIns="0" bIns="0" rtlCol="0" anchor="ctr"/>
          <a:lstStyle/>
          <a:p>
            <a:pPr indent="0" marL="0">
              <a:buNone/>
            </a:pPr>
            <a:r>
              <a:rPr lang="en-US" sz="2000" b="1" dirty="0">
                <a:solidFill>
                  <a:srgbClr val="FBBF24"/>
                </a:solidFill>
                <a:latin typeface="Calibri" pitchFamily="34" charset="0"/>
                <a:ea typeface="Calibri" pitchFamily="34" charset="-122"/>
                <a:cs typeface="Calibri" pitchFamily="34" charset="-120"/>
              </a:rPr>
              <a:t>Action (5)</a:t>
            </a:r>
            <a:endParaRPr lang="en-US" sz="2000" dirty="0"/>
          </a:p>
        </p:txBody>
      </p:sp>
      <p:sp>
        <p:nvSpPr>
          <p:cNvPr id="9" name="Text 7"/>
          <p:cNvSpPr/>
          <p:nvPr/>
        </p:nvSpPr>
        <p:spPr>
          <a:xfrm>
            <a:off x="4480560" y="2011680"/>
            <a:ext cx="3200400" cy="233172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Multiply cwnd by 0.5, 0.85, 1.0, 1.15 or 1.5.</a:t>
            </a:r>
            <a:endParaRPr lang="en-US" sz="1800" dirty="0"/>
          </a:p>
        </p:txBody>
      </p:sp>
      <p:sp>
        <p:nvSpPr>
          <p:cNvPr id="10" name="Shape 8"/>
          <p:cNvSpPr/>
          <p:nvPr/>
        </p:nvSpPr>
        <p:spPr>
          <a:xfrm>
            <a:off x="8046720" y="1371600"/>
            <a:ext cx="3566160" cy="3108960"/>
          </a:xfrm>
          <a:prstGeom prst="rect">
            <a:avLst/>
          </a:prstGeom>
          <a:solidFill>
            <a:srgbClr val="121B2F"/>
          </a:solidFill>
          <a:ln w="12700">
            <a:solidFill>
              <a:srgbClr val="2DD4BF"/>
            </a:solidFill>
            <a:prstDash val="solid"/>
          </a:ln>
        </p:spPr>
      </p:sp>
      <p:sp>
        <p:nvSpPr>
          <p:cNvPr id="11" name="Text 9"/>
          <p:cNvSpPr/>
          <p:nvPr/>
        </p:nvSpPr>
        <p:spPr>
          <a:xfrm>
            <a:off x="8229600" y="1508760"/>
            <a:ext cx="3200400" cy="457200"/>
          </a:xfrm>
          <a:prstGeom prst="rect">
            <a:avLst/>
          </a:prstGeom>
          <a:noFill/>
          <a:ln/>
        </p:spPr>
        <p:txBody>
          <a:bodyPr wrap="square" lIns="0" tIns="0" rIns="0" bIns="0"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Reward</a:t>
            </a:r>
            <a:endParaRPr lang="en-US" sz="2000" dirty="0"/>
          </a:p>
        </p:txBody>
      </p:sp>
      <p:sp>
        <p:nvSpPr>
          <p:cNvPr id="12" name="Text 10"/>
          <p:cNvSpPr/>
          <p:nvPr/>
        </p:nvSpPr>
        <p:spPr>
          <a:xfrm>
            <a:off x="8229600" y="2011680"/>
            <a:ext cx="3200400" cy="233172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Throughput gained, minus delay growth, minus retransmissions.</a:t>
            </a:r>
            <a:endParaRPr lang="en-US" sz="1800" dirty="0"/>
          </a:p>
        </p:txBody>
      </p:sp>
      <p:sp>
        <p:nvSpPr>
          <p:cNvPr id="13" name="Text 11"/>
          <p:cNvSpPr/>
          <p:nvPr/>
        </p:nvSpPr>
        <p:spPr>
          <a:xfrm>
            <a:off x="548640" y="4846320"/>
            <a:ext cx="10972800" cy="914400"/>
          </a:xfrm>
          <a:prstGeom prst="rect">
            <a:avLst/>
          </a:prstGeom>
          <a:noFill/>
          <a:ln/>
        </p:spPr>
        <p:txBody>
          <a:bodyPr wrap="square" lIns="0" tIns="0" rIns="0" bIns="0" rtlCol="0" anchor="ctr"/>
          <a:lstStyle/>
          <a:p>
            <a:pPr indent="0" marL="0">
              <a:buNone/>
            </a:pPr>
            <a:r>
              <a:rPr lang="en-US" sz="1800" dirty="0">
                <a:solidFill>
                  <a:srgbClr val="EAF0F8"/>
                </a:solidFill>
                <a:latin typeface="Calibri" pitchFamily="34" charset="0"/>
                <a:ea typeface="Calibri" pitchFamily="34" charset="-122"/>
                <a:cs typeface="Calibri" pitchFamily="34" charset="-120"/>
              </a:rPr>
              <a:t>Same Go-Back-N reliability as the baseline; only the window policy changes. Paths emulated in-program: 5G-like, lossy wireless, satellite-like.</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The AI agent in our code</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sp>
        <p:nvSpPr>
          <p:cNvPr id="4" name="Shape 2"/>
          <p:cNvSpPr/>
          <p:nvPr/>
        </p:nvSpPr>
        <p:spPr>
          <a:xfrm>
            <a:off x="457200" y="1188720"/>
            <a:ext cx="5669280" cy="4206240"/>
          </a:xfrm>
          <a:prstGeom prst="rect">
            <a:avLst/>
          </a:prstGeom>
          <a:solidFill>
            <a:srgbClr val="121B2F"/>
          </a:solidFill>
          <a:ln w="12700">
            <a:solidFill>
              <a:srgbClr val="2DD4BF"/>
            </a:solidFill>
            <a:prstDash val="solid"/>
          </a:ln>
        </p:spPr>
      </p:sp>
      <p:sp>
        <p:nvSpPr>
          <p:cNvPr id="5" name="Text 3"/>
          <p:cNvSpPr/>
          <p:nvPr/>
        </p:nvSpPr>
        <p:spPr>
          <a:xfrm>
            <a:off x="594360" y="1234440"/>
            <a:ext cx="5394960" cy="320040"/>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src/rl_cc.h  (agent, simplified)</a:t>
            </a:r>
            <a:endParaRPr lang="en-US" sz="1300" dirty="0"/>
          </a:p>
        </p:txBody>
      </p:sp>
      <p:sp>
        <p:nvSpPr>
          <p:cNvPr id="6" name="Text 4"/>
          <p:cNvSpPr/>
          <p:nvPr/>
        </p:nvSpPr>
        <p:spPr>
          <a:xfrm>
            <a:off x="594360" y="1600200"/>
            <a:ext cx="5394960" cy="3749040"/>
          </a:xfrm>
          <a:prstGeom prst="rect">
            <a:avLst/>
          </a:prstGeom>
          <a:noFill/>
          <a:ln/>
        </p:spPr>
        <p:txBody>
          <a:bodyPr wrap="square" lIns="0" tIns="0" rIns="0" bIns="0" rtlCol="0" anchor="t"/>
          <a:lstStyle/>
          <a:p>
            <a:pPr indent="0" marL="0">
              <a:buNone/>
            </a:pPr>
            <a:r>
              <a:rPr lang="en-US" sz="1300" dirty="0">
                <a:solidFill>
                  <a:srgbClr val="EAF0F8"/>
                </a:solidFill>
                <a:latin typeface="Calibri" pitchFamily="34" charset="0"/>
                <a:ea typeface="Calibri" pitchFamily="34" charset="-122"/>
                <a:cs typeface="Calibri" pitchFamily="34" charset="-120"/>
              </a:rPr>
              <a:t>// state: 4 x 4 x 5 = 80 buckets</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s = (rtt_bucket*4 + loss_bucket)*5 + cwnd_bucket;</a:t>
            </a:r>
            <a:endParaRPr lang="en-US" sz="1300" dirty="0"/>
          </a:p>
          <a:p>
            <a:pPr indent="0" marL="0">
              <a:buNone/>
            </a:pP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choose: explore with prob. eps, else best</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int rl_choose(a, s) {</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if (rand01() &lt; a-&gt;eps) return rand() % 5;</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return argmax(a-&gt;q[s]);        // 5 actions</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a:t>
            </a:r>
            <a:endParaRPr lang="en-US" sz="1300" dirty="0"/>
          </a:p>
          <a:p>
            <a:pPr indent="0" marL="0">
              <a:buNone/>
            </a:pP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learn: the Q-learning update</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void rl_update(a, s, act, r, s2) {</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target = r + a-&gt;gamma * max(a-&gt;q[s2]);</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a-&gt;q[s][act] += a-&gt;alpha * (target - a-&gt;q[s][act]);</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a:t>
            </a:r>
            <a:endParaRPr lang="en-US" sz="1300" dirty="0"/>
          </a:p>
        </p:txBody>
      </p:sp>
      <p:sp>
        <p:nvSpPr>
          <p:cNvPr id="7" name="Shape 5"/>
          <p:cNvSpPr/>
          <p:nvPr/>
        </p:nvSpPr>
        <p:spPr>
          <a:xfrm>
            <a:off x="6309360" y="1188720"/>
            <a:ext cx="5394960" cy="4206240"/>
          </a:xfrm>
          <a:prstGeom prst="rect">
            <a:avLst/>
          </a:prstGeom>
          <a:solidFill>
            <a:srgbClr val="121B2F"/>
          </a:solidFill>
          <a:ln w="12700">
            <a:solidFill>
              <a:srgbClr val="FBBF24"/>
            </a:solidFill>
            <a:prstDash val="solid"/>
          </a:ln>
        </p:spPr>
      </p:sp>
      <p:sp>
        <p:nvSpPr>
          <p:cNvPr id="8" name="Text 6"/>
          <p:cNvSpPr/>
          <p:nvPr/>
        </p:nvSpPr>
        <p:spPr>
          <a:xfrm>
            <a:off x="6446520" y="1234440"/>
            <a:ext cx="5120640" cy="320040"/>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src/smart_client.c  (decision loop, simplified)</a:t>
            </a:r>
            <a:endParaRPr lang="en-US" sz="1300" dirty="0"/>
          </a:p>
        </p:txBody>
      </p:sp>
      <p:sp>
        <p:nvSpPr>
          <p:cNvPr id="9" name="Text 7"/>
          <p:cNvSpPr/>
          <p:nvPr/>
        </p:nvSpPr>
        <p:spPr>
          <a:xfrm>
            <a:off x="6446520" y="1600200"/>
            <a:ext cx="5120640" cy="3749040"/>
          </a:xfrm>
          <a:prstGeom prst="rect">
            <a:avLst/>
          </a:prstGeom>
          <a:noFill/>
          <a:ln/>
        </p:spPr>
        <p:txBody>
          <a:bodyPr wrap="square" lIns="0" tIns="0" rIns="0" bIns="0" rtlCol="0" anchor="t"/>
          <a:lstStyle/>
          <a:p>
            <a:pPr indent="0" marL="0">
              <a:buNone/>
            </a:pPr>
            <a:r>
              <a:rPr lang="en-US" sz="1300" dirty="0">
                <a:solidFill>
                  <a:srgbClr val="EAF0F8"/>
                </a:solidFill>
                <a:latin typeface="Calibri" pitchFamily="34" charset="0"/>
                <a:ea typeface="Calibri" pitchFamily="34" charset="-122"/>
                <a:cs typeface="Calibri" pitchFamily="34" charset="-120"/>
              </a:rPr>
              <a:t>// once per RTT, in smart_client.c</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ratio = rtt / base_rtt;   lossf = losses / sent;</a:t>
            </a:r>
            <a:endParaRPr lang="en-US" sz="1300" dirty="0"/>
          </a:p>
          <a:p>
            <a:pPr indent="0" marL="0">
              <a:buNone/>
            </a:pP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reward = sqrt(throughput_norm)</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- 0.5 * max(0, ratio - 1)   // delay growth</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- 4.0 * lossf;              // loss</a:t>
            </a:r>
            <a:endParaRPr lang="en-US" sz="1300" dirty="0"/>
          </a:p>
          <a:p>
            <a:pPr indent="0" marL="0">
              <a:buNone/>
            </a:pP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rl_update(&amp;ag, prev_s, prev_a, reward, s2);</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act   = rl_choose(&amp;ag, s2);</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cwnd *= {0.5, 0.85, 1.0, 1.15, 1.5}[act];</a:t>
            </a:r>
            <a:endParaRPr lang="en-US" sz="1300" dirty="0"/>
          </a:p>
        </p:txBody>
      </p:sp>
      <p:sp>
        <p:nvSpPr>
          <p:cNvPr id="10" name="Text 8"/>
          <p:cNvSpPr/>
          <p:nvPr/>
        </p:nvSpPr>
        <p:spPr>
          <a:xfrm>
            <a:off x="457200" y="5577840"/>
            <a:ext cx="11247120" cy="731520"/>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Tabular Q-learning: alpha 0.15, gamma 0.9. Chat version: web/cc.py, trained in web/train.py (results/q_chat.txt). Deep version: web/dqn.py, a small neural network (5-32-32-5) trained by DQN in web/train_deep.py.</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Appendix: slow start and congestion avoidance</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Smart-Poise</a:t>
            </a:r>
            <a:endParaRPr lang="en-US" sz="1000" dirty="0"/>
          </a:p>
        </p:txBody>
      </p:sp>
      <p:pic>
        <p:nvPicPr>
          <p:cNvPr id="4" name="Image 0" descr="fig1_cwnd_no_loss.png">    </p:cNvPr>
          <p:cNvPicPr>
            <a:picLocks noChangeAspect="1"/>
          </p:cNvPicPr>
          <p:nvPr/>
        </p:nvPicPr>
        <p:blipFill>
          <a:blip r:embed="rId1"/>
          <a:stretch>
            <a:fillRect/>
          </a:stretch>
        </p:blipFill>
        <p:spPr>
          <a:xfrm>
            <a:off x="731520" y="1188720"/>
            <a:ext cx="7498080" cy="3998976"/>
          </a:xfrm>
          <a:prstGeom prst="rect">
            <a:avLst/>
          </a:prstGeom>
        </p:spPr>
      </p:pic>
      <p:sp>
        <p:nvSpPr>
          <p:cNvPr id="5" name="Text 2"/>
          <p:cNvSpPr/>
          <p:nvPr/>
        </p:nvSpPr>
        <p:spPr>
          <a:xfrm>
            <a:off x="8503920" y="1463040"/>
            <a:ext cx="320040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AF0F8"/>
                </a:solidFill>
                <a:latin typeface="Calibri" pitchFamily="34" charset="0"/>
                <a:ea typeface="Calibri" pitchFamily="34" charset="-122"/>
                <a:cs typeface="Calibri" pitchFamily="34" charset="-120"/>
              </a:rPr>
              <a:t>cwnd starts at 1</a:t>
            </a:r>
            <a:endParaRPr lang="en-US" sz="1700" dirty="0"/>
          </a:p>
          <a:p>
            <a:pPr marL="342900" indent="-342900">
              <a:spcAft>
                <a:spcPts val="800"/>
              </a:spcAft>
              <a:buSzPct val="100000"/>
              <a:buChar char="•"/>
            </a:pPr>
            <a:r>
              <a:rPr lang="en-US" sz="1700" dirty="0">
                <a:solidFill>
                  <a:srgbClr val="EAF0F8"/>
                </a:solidFill>
                <a:latin typeface="Calibri" pitchFamily="34" charset="0"/>
                <a:ea typeface="Calibri" pitchFamily="34" charset="-122"/>
                <a:cs typeface="Calibri" pitchFamily="34" charset="-120"/>
              </a:rPr>
              <a:t>+1 per ACK until ssthresh = 16</a:t>
            </a:r>
            <a:endParaRPr lang="en-US" sz="1700" dirty="0"/>
          </a:p>
          <a:p>
            <a:pPr marL="342900" indent="-342900">
              <a:spcAft>
                <a:spcPts val="800"/>
              </a:spcAft>
              <a:buSzPct val="100000"/>
              <a:buChar char="•"/>
            </a:pPr>
            <a:r>
              <a:rPr lang="en-US" sz="1700" dirty="0">
                <a:solidFill>
                  <a:srgbClr val="EAF0F8"/>
                </a:solidFill>
                <a:latin typeface="Calibri" pitchFamily="34" charset="0"/>
                <a:ea typeface="Calibri" pitchFamily="34" charset="-122"/>
                <a:cs typeface="Calibri" pitchFamily="34" charset="-120"/>
              </a:rPr>
              <a:t>Then +1/cwnd per ACK</a:t>
            </a:r>
            <a:endParaRPr lang="en-US" sz="1700" dirty="0"/>
          </a:p>
          <a:p>
            <a:pPr marL="342900" indent="-342900">
              <a:spcAft>
                <a:spcPts val="800"/>
              </a:spcAft>
              <a:buSzPct val="100000"/>
              <a:buChar char="•"/>
            </a:pPr>
            <a:r>
              <a:rPr lang="en-US" sz="1700" dirty="0">
                <a:solidFill>
                  <a:srgbClr val="EAF0F8"/>
                </a:solidFill>
                <a:latin typeface="Calibri" pitchFamily="34" charset="0"/>
                <a:ea typeface="Calibri" pitchFamily="34" charset="-122"/>
                <a:cs typeface="Calibri" pitchFamily="34" charset="-120"/>
              </a:rPr>
              <a:t>62 packets, final cwnd 18.71</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2026-10-12T04:00:49Z</dcterms:created>
  <dcterms:modified xsi:type="dcterms:W3CDTF">2026-10-12T04:00:49Z</dcterms:modified>
</cp:coreProperties>
</file>